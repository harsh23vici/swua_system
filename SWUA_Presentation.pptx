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I am Harsh Singh from Jabalpur Engineering College, B.Tech Information Technology. Our project is Smart Water Usage Advisor, a web-based platform designed to improve household water-use efficiency in alignment with UN SDG 6, particularly Target 6.4.
Pitch (60 seconds): People use water every day but often don't know where it is consumed or wasted. Our system lets users enter daily habits and generates a transparent consumption estimate, category-wise breakdown and major wastage areas. The hybrid architecture is the difference: a deterministic engine does the calculations, while Aqua Advisor uses RAG-grounded AI for personalised guidance. A local fallback keeps guidance available if the external AI service is down. Our goal is to turn water consumption from an invisible habit into understandable, actionable information.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Problem: households consume significant water daily but lack clear visibility. Small inefficiencies (long showers, excessive flushing, running taps, leakage) add up to substantial daily and monthly wastage.
Solution flow: User Inputs -&gt; Water Consumption Calculation -&gt; Usage Breakdown -&gt; Wastage Detection -&gt; AI/RAG-Based Advice. The calculation engine is deterministic; AI is mainly for conversational guidance.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SDG 6.4 focuses on improving water-use efficiency and reducing water stress. SWUA contributes at the household level. Target users: urban/suburban households, individuals, environmentally conscious users and communities.
Q10 - How does this contribute to SDG 6.4? It promotes household-level water-use efficiency by helping users understand consumption, identify wastage and adopt conservation practices.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point: AI does NOT perform the core water-consumption mathematics. Deterministic layer = transparent, reproducible calculation. AI layer = Aqua Advisor for conversation and personalised recommendations.
Q1 Why AI? The calculation itself does not need AI; AI translates the water profile and retrieved knowledge into understandable advice.
Q2 Why not fully rule-based? Calculation and diagnosis are rule-based, but users ask questions in many ways, which benefits from an AI layer.
Q5 Does AI calculate consumption? No, the deterministic engine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Pipeline: User Question -&gt; Query Processing -&gt; Tokenization &amp; Stop-word Removal -&gt; Knowledge Base Matching -&gt; Relevance Scoring -&gt; Top 3 Entries -&gt; User Water Profile + Retrieved Knowledge -&gt; Aqua Advisor -&gt; Grounded Response -&gt; Sources.
Q3 How does RAG work? Query is processed, relevant terms extracted, local knowledge base entries scored, the most relevant retrieved and given as context to the advisor.
Q4 Vector DB? No, a lightweight local mechanism with tokenisation and relevance scoring over a curated JSON file.
Q6 If the AI API fails? The Smart Local Heuristic Engine responds using the local knowledge 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steps 1-3: Start from the landing page, click Start Assessment, enter a realistic example (household size, shower duration, flushing, kitchen habits, laundry, possible leak) and submit.
'The frontend sends these inputs to our FastAPI backend, where the deterministic calculation engine estimates water consumption using predefined empirical flow rates.'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Dashboard: highlight total water consumption, category breakdown, donut chart, bar chart and top wastage areas. 'Instead of only one final number, the system tells the user where water is consumed and which areas have the highest potential wastage.'
Aqua Advisor: ask 'How can I fix the leak and save water?'. The assistant uses the user's profile and relevant knowledge-base information. Then show the Verified Sources section: the response is grounded in our local water-conservation knowledge base, not an unrestricted chatbot.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Impact: before SWUA, households see only a water bill. With SWUA: daily habits -&gt; consumption estimate -&gt; category breakdown -&gt; wastage detection -&gt; personalised advice -&gt; behavioural change -&gt; improved water-use efficiency.
Q7 Real-time monitoring? No, it is a behavioural estimator and does not read meters or IoT sensors.
Q8 Accuracy? Behavioural estimates that depend on user inputs and standard empirical flow rates.
Q9 Privacy? Stateless; assessment data is not permanently stored.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hide limitations: user-input dependency, no physical meter, behavioural estimation, household-only scope. Future scope items should be presented as future, not as implemented features.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image" Target="../media/image-3-9.png"/><Relationship Id="rId10" Type="http://schemas.openxmlformats.org/officeDocument/2006/relationships/slideLayout" Target="../slideLayouts/slideLayout1.xml"/><Relationship Id="rId11"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image" Target="../media/image-5-9.png"/><Relationship Id="rId10" Type="http://schemas.openxmlformats.org/officeDocument/2006/relationships/slideLayout" Target="../slideLayouts/slideLayout1.xml"/><Relationship Id="rId11"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1.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1.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1.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62A40"/>
        </a:solidFill>
      </p:bgPr>
    </p:bg>
    <p:spTree>
      <p:nvGrpSpPr>
        <p:cNvPr id="1" name=""/>
        <p:cNvGrpSpPr/>
        <p:nvPr/>
      </p:nvGrpSpPr>
      <p:grpSpPr>
        <a:xfrm>
          <a:off x="0" y="0"/>
          <a:ext cx="0" cy="0"/>
          <a:chOff x="0" y="0"/>
          <a:chExt cx="0" cy="0"/>
        </a:xfrm>
      </p:grpSpPr>
      <p:sp>
        <p:nvSpPr>
          <p:cNvPr id="2" name="Shape 0"/>
          <p:cNvSpPr/>
          <p:nvPr/>
        </p:nvSpPr>
        <p:spPr>
          <a:xfrm>
            <a:off x="548640" y="685800"/>
            <a:ext cx="548640" cy="548640"/>
          </a:xfrm>
          <a:prstGeom prst="ellipse">
            <a:avLst/>
          </a:prstGeom>
          <a:solidFill>
            <a:srgbClr val="0FB5A6"/>
          </a:solidFill>
          <a:ln w="12700">
            <a:solidFill>
              <a:srgbClr val="0FB5A6"/>
            </a:solidFill>
            <a:prstDash val="solid"/>
          </a:ln>
        </p:spPr>
      </p:sp>
      <p:pic>
        <p:nvPicPr>
          <p:cNvPr id="3" name="Image 0" descr="preencoded.png">    </p:cNvPr>
          <p:cNvPicPr>
            <a:picLocks noChangeAspect="1"/>
          </p:cNvPicPr>
          <p:nvPr/>
        </p:nvPicPr>
        <p:blipFill>
          <a:blip r:embed="rId1"/>
          <a:stretch>
            <a:fillRect/>
          </a:stretch>
        </p:blipFill>
        <p:spPr>
          <a:xfrm>
            <a:off x="685800" y="822960"/>
            <a:ext cx="274320" cy="274320"/>
          </a:xfrm>
          <a:prstGeom prst="rect">
            <a:avLst/>
          </a:prstGeom>
        </p:spPr>
      </p:pic>
      <p:sp>
        <p:nvSpPr>
          <p:cNvPr id="4" name="Text 1"/>
          <p:cNvSpPr txBox="1"/>
          <p:nvPr/>
        </p:nvSpPr>
        <p:spPr>
          <a:xfrm>
            <a:off x="1280160" y="822960"/>
            <a:ext cx="4572000" cy="274320"/>
          </a:xfrm>
          <a:prstGeom prst="rect">
            <a:avLst/>
          </a:prstGeom>
          <a:noFill/>
          <a:ln/>
        </p:spPr>
        <p:txBody>
          <a:bodyPr wrap="square" lIns="0" tIns="0" rIns="0" bIns="0" rtlCol="0" anchor="t"/>
          <a:lstStyle/>
          <a:p>
            <a:pPr indent="0" marL="0">
              <a:buNone/>
            </a:pPr>
            <a:r>
              <a:rPr lang="en-US" sz="1200" b="1" spc="200" kern="0" dirty="0">
                <a:solidFill>
                  <a:srgbClr val="0FB5A6"/>
                </a:solidFill>
                <a:latin typeface="Calibri" pitchFamily="34" charset="0"/>
                <a:ea typeface="Calibri" pitchFamily="34" charset="-122"/>
                <a:cs typeface="Calibri" pitchFamily="34" charset="-120"/>
              </a:rPr>
              <a:t>UN SDG 6  ·  TARGET 6.4  ·  WATER-USE EFFICIENCY</a:t>
            </a:r>
            <a:endParaRPr lang="en-US" sz="1200" dirty="0"/>
          </a:p>
        </p:txBody>
      </p:sp>
      <p:sp>
        <p:nvSpPr>
          <p:cNvPr id="5" name="Text 2"/>
          <p:cNvSpPr txBox="1"/>
          <p:nvPr/>
        </p:nvSpPr>
        <p:spPr>
          <a:xfrm>
            <a:off x="548640" y="1737360"/>
            <a:ext cx="5120640" cy="1737360"/>
          </a:xfrm>
          <a:prstGeom prst="rect">
            <a:avLst/>
          </a:prstGeom>
          <a:noFill/>
          <a:ln/>
        </p:spPr>
        <p:txBody>
          <a:bodyPr wrap="square" lIns="0" tIns="0" rIns="0" bIns="0" rtlCol="0" anchor="t"/>
          <a:lstStyle/>
          <a:p>
            <a:pPr indent="0" marL="0">
              <a:buNone/>
            </a:pPr>
            <a:r>
              <a:rPr lang="en-US" sz="4600" b="1" dirty="0">
                <a:solidFill>
                  <a:srgbClr val="FFFFFF"/>
                </a:solidFill>
                <a:latin typeface="Cambria" pitchFamily="34" charset="0"/>
                <a:ea typeface="Cambria" pitchFamily="34" charset="-122"/>
                <a:cs typeface="Cambria" pitchFamily="34" charset="-120"/>
              </a:rPr>
              <a:t>Smart Water Usage Advisor</a:t>
            </a:r>
            <a:endParaRPr lang="en-US" sz="4600" dirty="0"/>
          </a:p>
        </p:txBody>
      </p:sp>
      <p:sp>
        <p:nvSpPr>
          <p:cNvPr id="6" name="Text 3"/>
          <p:cNvSpPr txBox="1"/>
          <p:nvPr/>
        </p:nvSpPr>
        <p:spPr>
          <a:xfrm>
            <a:off x="548640" y="3611880"/>
            <a:ext cx="4937760" cy="822960"/>
          </a:xfrm>
          <a:prstGeom prst="rect">
            <a:avLst/>
          </a:prstGeom>
          <a:noFill/>
          <a:ln/>
        </p:spPr>
        <p:txBody>
          <a:bodyPr wrap="square" lIns="0" tIns="0" rIns="0" bIns="0" rtlCol="0" anchor="t"/>
          <a:lstStyle/>
          <a:p>
            <a:pPr indent="0" marL="0">
              <a:buNone/>
            </a:pPr>
            <a:r>
              <a:rPr lang="en-US" sz="1800" dirty="0">
                <a:solidFill>
                  <a:srgbClr val="CFE8F3"/>
                </a:solidFill>
                <a:latin typeface="Calibri" pitchFamily="34" charset="0"/>
                <a:ea typeface="Calibri" pitchFamily="34" charset="-122"/>
                <a:cs typeface="Calibri" pitchFamily="34" charset="-120"/>
              </a:rPr>
              <a:t>AI-Powered Household Water Conservation &amp; Water-Use Efficiency Platform</a:t>
            </a:r>
            <a:endParaRPr lang="en-US" sz="1800" dirty="0"/>
          </a:p>
        </p:txBody>
      </p:sp>
      <p:sp>
        <p:nvSpPr>
          <p:cNvPr id="7" name="Text 4"/>
          <p:cNvSpPr txBox="1"/>
          <p:nvPr/>
        </p:nvSpPr>
        <p:spPr>
          <a:xfrm>
            <a:off x="548640" y="5120640"/>
            <a:ext cx="5120640" cy="1005840"/>
          </a:xfrm>
          <a:prstGeom prst="rect">
            <a:avLst/>
          </a:prstGeom>
          <a:noFill/>
          <a:ln/>
        </p:spPr>
        <p:txBody>
          <a:bodyPr wrap="square" lIns="0" tIns="0" rIns="0" bIns="0" rtlCol="0" anchor="t"/>
          <a:lstStyle/>
          <a:p>
            <a:pPr indent="0" marL="0">
              <a:spcAft>
                <a:spcPts val="300"/>
              </a:spcAft>
              <a:buNone/>
            </a:pPr>
            <a:r>
              <a:rPr lang="en-US" sz="1600" b="1" dirty="0">
                <a:solidFill>
                  <a:srgbClr val="FFFFFF"/>
                </a:solidFill>
                <a:latin typeface="Calibri" pitchFamily="34" charset="0"/>
                <a:ea typeface="Calibri" pitchFamily="34" charset="-122"/>
                <a:cs typeface="Calibri" pitchFamily="34" charset="-120"/>
              </a:rPr>
              <a:t>Presented by Harsh Singh</a:t>
            </a:r>
            <a:endParaRPr lang="en-US" sz="1400" dirty="0"/>
          </a:p>
          <a:p>
            <a:pPr indent="0" marL="0">
              <a:spcAft>
                <a:spcPts val="300"/>
              </a:spcAft>
              <a:buNone/>
            </a:pPr>
            <a:r>
              <a:rPr lang="en-US" sz="1400" dirty="0">
                <a:solidFill>
                  <a:srgbClr val="CFE8F3"/>
                </a:solidFill>
                <a:latin typeface="Calibri" pitchFamily="34" charset="0"/>
                <a:ea typeface="Calibri" pitchFamily="34" charset="-122"/>
                <a:cs typeface="Calibri" pitchFamily="34" charset="-120"/>
              </a:rPr>
              <a:t>Jabalpur Engineering College (JEC)</a:t>
            </a:r>
            <a:endParaRPr lang="en-US" sz="1400" dirty="0"/>
          </a:p>
          <a:p>
            <a:pPr indent="0" marL="0">
              <a:spcAft>
                <a:spcPts val="300"/>
              </a:spcAft>
              <a:buNone/>
            </a:pPr>
            <a:r>
              <a:rPr lang="en-US" sz="1400" dirty="0">
                <a:solidFill>
                  <a:srgbClr val="CFE8F3"/>
                </a:solidFill>
                <a:latin typeface="Calibri" pitchFamily="34" charset="0"/>
                <a:ea typeface="Calibri" pitchFamily="34" charset="-122"/>
                <a:cs typeface="Calibri" pitchFamily="34" charset="-120"/>
              </a:rPr>
              <a:t>B.Tech – Information Technology</a:t>
            </a:r>
            <a:endParaRPr lang="en-US" sz="1400" dirty="0"/>
          </a:p>
        </p:txBody>
      </p:sp>
      <p:sp>
        <p:nvSpPr>
          <p:cNvPr id="8" name="Shape 5"/>
          <p:cNvSpPr/>
          <p:nvPr/>
        </p:nvSpPr>
        <p:spPr>
          <a:xfrm>
            <a:off x="6117336" y="1956816"/>
            <a:ext cx="5596128" cy="2771302"/>
          </a:xfrm>
          <a:prstGeom prst="roundRect">
            <a:avLst>
              <a:gd name="adj" fmla="val 2640"/>
            </a:avLst>
          </a:prstGeom>
          <a:solidFill>
            <a:srgbClr val="FFFFFF"/>
          </a:solidFill>
          <a:ln w="9525">
            <a:solidFill>
              <a:srgbClr val="D5E5EE"/>
            </a:solidFill>
            <a:prstDash val="solid"/>
          </a:ln>
          <a:effectLst>
            <a:outerShdw sx="100000" sy="100000" kx="0" ky="0" algn="bl" rotWithShape="0" blurRad="101600" dist="25400" dir="5400000">
              <a:srgbClr val="0B2239">
                <a:alpha val="12000"/>
              </a:srgbClr>
            </a:outerShdw>
          </a:effectLst>
        </p:spPr>
      </p:sp>
      <p:pic>
        <p:nvPicPr>
          <p:cNvPr id="9" name="Image 1" descr="/mnt/user-data/uploads/Screenshot_2026-09-20_120743.png">    </p:cNvPr>
          <p:cNvPicPr>
            <a:picLocks noChangeAspect="1"/>
          </p:cNvPicPr>
          <p:nvPr/>
        </p:nvPicPr>
        <p:blipFill>
          <a:blip r:embed="rId2"/>
          <a:stretch>
            <a:fillRect/>
          </a:stretch>
        </p:blipFill>
        <p:spPr>
          <a:xfrm>
            <a:off x="6172200" y="2011680"/>
            <a:ext cx="5486400" cy="2661574"/>
          </a:xfrm>
          <a:prstGeom prst="rect">
            <a:avLst/>
          </a:prstGeom>
        </p:spPr>
      </p:pic>
      <p:sp>
        <p:nvSpPr>
          <p:cNvPr id="10" name="Text 6"/>
          <p:cNvSpPr txBox="1"/>
          <p:nvPr/>
        </p:nvSpPr>
        <p:spPr>
          <a:xfrm>
            <a:off x="6172200" y="4856134"/>
            <a:ext cx="5486400" cy="274320"/>
          </a:xfrm>
          <a:prstGeom prst="rect">
            <a:avLst/>
          </a:prstGeom>
          <a:noFill/>
          <a:ln/>
        </p:spPr>
        <p:txBody>
          <a:bodyPr wrap="square" lIns="0" tIns="0" rIns="0" bIns="0" rtlCol="0" anchor="t"/>
          <a:lstStyle/>
          <a:p>
            <a:pPr indent="0" marL="0">
              <a:buNone/>
            </a:pPr>
            <a:r>
              <a:rPr lang="en-US" sz="1100" i="1" dirty="0">
                <a:solidFill>
                  <a:srgbClr val="8FB4C7"/>
                </a:solidFill>
                <a:latin typeface="Calibri" pitchFamily="34" charset="0"/>
                <a:ea typeface="Calibri" pitchFamily="34" charset="-122"/>
                <a:cs typeface="Calibri" pitchFamily="34" charset="-120"/>
              </a:rPr>
              <a:t>SWUA landing page</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2F8FB"/>
        </a:solidFill>
      </p:bgPr>
    </p:bg>
    <p:spTree>
      <p:nvGrpSpPr>
        <p:cNvPr id="1" name=""/>
        <p:cNvGrpSpPr/>
        <p:nvPr/>
      </p:nvGrpSpPr>
      <p:grpSpPr>
        <a:xfrm>
          <a:off x="0" y="0"/>
          <a:ext cx="0" cy="0"/>
          <a:chOff x="0" y="0"/>
          <a:chExt cx="0" cy="0"/>
        </a:xfrm>
      </p:grpSpPr>
      <p:sp>
        <p:nvSpPr>
          <p:cNvPr id="2" name="Text 0"/>
          <p:cNvSpPr txBox="1"/>
          <p:nvPr/>
        </p:nvSpPr>
        <p:spPr>
          <a:xfrm>
            <a:off x="548640" y="365760"/>
            <a:ext cx="7315200" cy="274320"/>
          </a:xfrm>
          <a:prstGeom prst="rect">
            <a:avLst/>
          </a:prstGeom>
          <a:noFill/>
          <a:ln/>
        </p:spPr>
        <p:txBody>
          <a:bodyPr wrap="square" lIns="0" tIns="0" rIns="0" bIns="0" rtlCol="0" anchor="t"/>
          <a:lstStyle/>
          <a:p>
            <a:pPr indent="0" marL="0">
              <a:buNone/>
            </a:pPr>
            <a:r>
              <a:rPr lang="en-US" sz="1200" b="1" spc="300" kern="0" dirty="0">
                <a:solidFill>
                  <a:srgbClr val="0FB5A6"/>
                </a:solidFill>
                <a:latin typeface="Calibri" pitchFamily="34" charset="0"/>
                <a:ea typeface="Calibri" pitchFamily="34" charset="-122"/>
                <a:cs typeface="Calibri" pitchFamily="34" charset="-120"/>
              </a:rPr>
              <a:t>01  PROBLEM &amp; SOLUTION</a:t>
            </a:r>
            <a:endParaRPr lang="en-US" sz="1200" dirty="0"/>
          </a:p>
        </p:txBody>
      </p:sp>
      <p:sp>
        <p:nvSpPr>
          <p:cNvPr id="3" name="Text 1"/>
          <p:cNvSpPr txBox="1"/>
          <p:nvPr/>
        </p:nvSpPr>
        <p:spPr>
          <a:xfrm>
            <a:off x="548640" y="658368"/>
            <a:ext cx="11064240" cy="640080"/>
          </a:xfrm>
          <a:prstGeom prst="rect">
            <a:avLst/>
          </a:prstGeom>
          <a:noFill/>
          <a:ln/>
        </p:spPr>
        <p:txBody>
          <a:bodyPr wrap="square" lIns="0" tIns="0" rIns="0" bIns="0" rtlCol="0" anchor="t"/>
          <a:lstStyle/>
          <a:p>
            <a:pPr indent="0" marL="0">
              <a:buNone/>
            </a:pPr>
            <a:r>
              <a:rPr lang="en-US" sz="3200" b="1" dirty="0">
                <a:solidFill>
                  <a:srgbClr val="0B2239"/>
                </a:solidFill>
                <a:latin typeface="Cambria" pitchFamily="34" charset="0"/>
                <a:ea typeface="Cambria" pitchFamily="34" charset="-122"/>
                <a:cs typeface="Cambria" pitchFamily="34" charset="-120"/>
              </a:rPr>
              <a:t>Invisible Water, Visible Waste</a:t>
            </a:r>
            <a:endParaRPr lang="en-US" sz="3200" dirty="0"/>
          </a:p>
        </p:txBody>
      </p:sp>
      <p:sp>
        <p:nvSpPr>
          <p:cNvPr id="4" name="Shape 2"/>
          <p:cNvSpPr/>
          <p:nvPr/>
        </p:nvSpPr>
        <p:spPr>
          <a:xfrm>
            <a:off x="548640" y="1508760"/>
            <a:ext cx="5394960" cy="4663440"/>
          </a:xfrm>
          <a:prstGeom prst="roundRect">
            <a:avLst>
              <a:gd name="adj" fmla="val 2353"/>
            </a:avLst>
          </a:prstGeom>
          <a:solidFill>
            <a:srgbClr val="FFFFFF"/>
          </a:solidFill>
          <a:ln w="9525">
            <a:solidFill>
              <a:srgbClr val="D5E5EE"/>
            </a:solidFill>
            <a:prstDash val="solid"/>
          </a:ln>
          <a:effectLst>
            <a:outerShdw sx="100000" sy="100000" kx="0" ky="0" algn="bl" rotWithShape="0" blurRad="101600" dist="25400" dir="5400000">
              <a:srgbClr val="0B2239">
                <a:alpha val="12000"/>
              </a:srgbClr>
            </a:outerShdw>
          </a:effectLst>
        </p:spPr>
      </p:sp>
      <p:sp>
        <p:nvSpPr>
          <p:cNvPr id="5" name="Shape 3"/>
          <p:cNvSpPr/>
          <p:nvPr/>
        </p:nvSpPr>
        <p:spPr>
          <a:xfrm>
            <a:off x="822960" y="1737360"/>
            <a:ext cx="457200" cy="457200"/>
          </a:xfrm>
          <a:prstGeom prst="ellipse">
            <a:avLst/>
          </a:prstGeom>
          <a:solidFill>
            <a:srgbClr val="F59E0B"/>
          </a:solidFill>
          <a:ln w="12700">
            <a:solidFill>
              <a:srgbClr val="F59E0B"/>
            </a:solidFill>
            <a:prstDash val="solid"/>
          </a:ln>
        </p:spPr>
      </p:sp>
      <p:pic>
        <p:nvPicPr>
          <p:cNvPr id="6" name="Image 0" descr="preencoded.png">    </p:cNvPr>
          <p:cNvPicPr>
            <a:picLocks noChangeAspect="1"/>
          </p:cNvPicPr>
          <p:nvPr/>
        </p:nvPicPr>
        <p:blipFill>
          <a:blip r:embed="rId1"/>
          <a:stretch>
            <a:fillRect/>
          </a:stretch>
        </p:blipFill>
        <p:spPr>
          <a:xfrm>
            <a:off x="937260" y="1851660"/>
            <a:ext cx="228600" cy="228600"/>
          </a:xfrm>
          <a:prstGeom prst="rect">
            <a:avLst/>
          </a:prstGeom>
        </p:spPr>
      </p:pic>
      <p:sp>
        <p:nvSpPr>
          <p:cNvPr id="7" name="Text 4"/>
          <p:cNvSpPr txBox="1"/>
          <p:nvPr/>
        </p:nvSpPr>
        <p:spPr>
          <a:xfrm>
            <a:off x="1417320" y="1810512"/>
            <a:ext cx="3657600" cy="365760"/>
          </a:xfrm>
          <a:prstGeom prst="rect">
            <a:avLst/>
          </a:prstGeom>
          <a:noFill/>
          <a:ln/>
        </p:spPr>
        <p:txBody>
          <a:bodyPr wrap="square" lIns="0" tIns="0" rIns="0" bIns="0" rtlCol="0" anchor="t"/>
          <a:lstStyle/>
          <a:p>
            <a:pPr indent="0" marL="0">
              <a:buNone/>
            </a:pPr>
            <a:r>
              <a:rPr lang="en-US" sz="2000" b="1" dirty="0">
                <a:solidFill>
                  <a:srgbClr val="0B2239"/>
                </a:solidFill>
                <a:latin typeface="Cambria" pitchFamily="34" charset="0"/>
                <a:ea typeface="Cambria" pitchFamily="34" charset="-122"/>
                <a:cs typeface="Cambria" pitchFamily="34" charset="-120"/>
              </a:rPr>
              <a:t>The problem</a:t>
            </a:r>
            <a:endParaRPr lang="en-US" sz="2000" dirty="0"/>
          </a:p>
        </p:txBody>
      </p:sp>
      <p:sp>
        <p:nvSpPr>
          <p:cNvPr id="8" name="Text 5"/>
          <p:cNvSpPr txBox="1"/>
          <p:nvPr/>
        </p:nvSpPr>
        <p:spPr>
          <a:xfrm>
            <a:off x="822960" y="2377440"/>
            <a:ext cx="4846320" cy="685800"/>
          </a:xfrm>
          <a:prstGeom prst="rect">
            <a:avLst/>
          </a:prstGeom>
          <a:noFill/>
          <a:ln/>
        </p:spPr>
        <p:txBody>
          <a:bodyPr wrap="square" lIns="0" tIns="0" rIns="0" bIns="0" rtlCol="0" anchor="t"/>
          <a:lstStyle/>
          <a:p>
            <a:pPr indent="0" marL="0">
              <a:buNone/>
            </a:pPr>
            <a:r>
              <a:rPr lang="en-US" sz="1400" dirty="0">
                <a:solidFill>
                  <a:srgbClr val="5B7185"/>
                </a:solidFill>
                <a:latin typeface="Calibri" pitchFamily="34" charset="0"/>
                <a:ea typeface="Calibri" pitchFamily="34" charset="-122"/>
                <a:cs typeface="Calibri" pitchFamily="34" charset="-120"/>
              </a:rPr>
              <a:t>Households use a lot of water every day, but have little visibility into where it goes or where it is wasted.</a:t>
            </a:r>
            <a:endParaRPr lang="en-US" sz="1400" dirty="0"/>
          </a:p>
        </p:txBody>
      </p:sp>
      <p:sp>
        <p:nvSpPr>
          <p:cNvPr id="9" name="Shape 6"/>
          <p:cNvSpPr/>
          <p:nvPr/>
        </p:nvSpPr>
        <p:spPr>
          <a:xfrm>
            <a:off x="822960" y="3154680"/>
            <a:ext cx="1280160" cy="329184"/>
          </a:xfrm>
          <a:prstGeom prst="roundRect">
            <a:avLst>
              <a:gd name="adj" fmla="val 50000"/>
            </a:avLst>
          </a:prstGeom>
          <a:solidFill>
            <a:srgbClr val="E3F1F7"/>
          </a:solidFill>
          <a:ln w="12700">
            <a:solidFill>
              <a:srgbClr val="E3F1F7"/>
            </a:solidFill>
            <a:prstDash val="solid"/>
          </a:ln>
        </p:spPr>
      </p:sp>
      <p:sp>
        <p:nvSpPr>
          <p:cNvPr id="10" name="Text 7"/>
          <p:cNvSpPr txBox="1"/>
          <p:nvPr/>
        </p:nvSpPr>
        <p:spPr>
          <a:xfrm>
            <a:off x="822960" y="3154680"/>
            <a:ext cx="1280160" cy="329184"/>
          </a:xfrm>
          <a:prstGeom prst="rect">
            <a:avLst/>
          </a:prstGeom>
          <a:noFill/>
          <a:ln/>
        </p:spPr>
        <p:txBody>
          <a:bodyPr wrap="square" lIns="0" tIns="0" rIns="0" bIns="0" rtlCol="0" anchor="ctr"/>
          <a:lstStyle/>
          <a:p>
            <a:pPr algn="ctr" indent="0" marL="0">
              <a:buNone/>
            </a:pPr>
            <a:r>
              <a:rPr lang="en-US" sz="1200" b="1" dirty="0">
                <a:solidFill>
                  <a:srgbClr val="0B6E99"/>
                </a:solidFill>
                <a:latin typeface="Calibri" pitchFamily="34" charset="0"/>
                <a:ea typeface="Calibri" pitchFamily="34" charset="-122"/>
                <a:cs typeface="Calibri" pitchFamily="34" charset="-120"/>
              </a:rPr>
              <a:t>Long showers</a:t>
            </a:r>
            <a:endParaRPr lang="en-US" sz="1200" dirty="0"/>
          </a:p>
        </p:txBody>
      </p:sp>
      <p:sp>
        <p:nvSpPr>
          <p:cNvPr id="11" name="Shape 8"/>
          <p:cNvSpPr/>
          <p:nvPr/>
        </p:nvSpPr>
        <p:spPr>
          <a:xfrm>
            <a:off x="2240280" y="3154680"/>
            <a:ext cx="1645920" cy="329184"/>
          </a:xfrm>
          <a:prstGeom prst="roundRect">
            <a:avLst>
              <a:gd name="adj" fmla="val 50000"/>
            </a:avLst>
          </a:prstGeom>
          <a:solidFill>
            <a:srgbClr val="E3F1F7"/>
          </a:solidFill>
          <a:ln w="12700">
            <a:solidFill>
              <a:srgbClr val="E3F1F7"/>
            </a:solidFill>
            <a:prstDash val="solid"/>
          </a:ln>
        </p:spPr>
      </p:sp>
      <p:sp>
        <p:nvSpPr>
          <p:cNvPr id="12" name="Text 9"/>
          <p:cNvSpPr txBox="1"/>
          <p:nvPr/>
        </p:nvSpPr>
        <p:spPr>
          <a:xfrm>
            <a:off x="2240280" y="3154680"/>
            <a:ext cx="1645920" cy="329184"/>
          </a:xfrm>
          <a:prstGeom prst="rect">
            <a:avLst/>
          </a:prstGeom>
          <a:noFill/>
          <a:ln/>
        </p:spPr>
        <p:txBody>
          <a:bodyPr wrap="square" lIns="0" tIns="0" rIns="0" bIns="0" rtlCol="0" anchor="ctr"/>
          <a:lstStyle/>
          <a:p>
            <a:pPr algn="ctr" indent="0" marL="0">
              <a:buNone/>
            </a:pPr>
            <a:r>
              <a:rPr lang="en-US" sz="1200" b="1" dirty="0">
                <a:solidFill>
                  <a:srgbClr val="0B6E99"/>
                </a:solidFill>
                <a:latin typeface="Calibri" pitchFamily="34" charset="0"/>
                <a:ea typeface="Calibri" pitchFamily="34" charset="-122"/>
                <a:cs typeface="Calibri" pitchFamily="34" charset="-120"/>
              </a:rPr>
              <a:t>Excessive flushing</a:t>
            </a:r>
            <a:endParaRPr lang="en-US" sz="1200" dirty="0"/>
          </a:p>
        </p:txBody>
      </p:sp>
      <p:sp>
        <p:nvSpPr>
          <p:cNvPr id="13" name="Shape 10"/>
          <p:cNvSpPr/>
          <p:nvPr/>
        </p:nvSpPr>
        <p:spPr>
          <a:xfrm>
            <a:off x="4023360" y="3154680"/>
            <a:ext cx="1280160" cy="329184"/>
          </a:xfrm>
          <a:prstGeom prst="roundRect">
            <a:avLst>
              <a:gd name="adj" fmla="val 50000"/>
            </a:avLst>
          </a:prstGeom>
          <a:solidFill>
            <a:srgbClr val="E3F1F7"/>
          </a:solidFill>
          <a:ln w="12700">
            <a:solidFill>
              <a:srgbClr val="E3F1F7"/>
            </a:solidFill>
            <a:prstDash val="solid"/>
          </a:ln>
        </p:spPr>
      </p:sp>
      <p:sp>
        <p:nvSpPr>
          <p:cNvPr id="14" name="Text 11"/>
          <p:cNvSpPr txBox="1"/>
          <p:nvPr/>
        </p:nvSpPr>
        <p:spPr>
          <a:xfrm>
            <a:off x="4023360" y="3154680"/>
            <a:ext cx="1280160" cy="329184"/>
          </a:xfrm>
          <a:prstGeom prst="rect">
            <a:avLst/>
          </a:prstGeom>
          <a:noFill/>
          <a:ln/>
        </p:spPr>
        <p:txBody>
          <a:bodyPr wrap="square" lIns="0" tIns="0" rIns="0" bIns="0" rtlCol="0" anchor="ctr"/>
          <a:lstStyle/>
          <a:p>
            <a:pPr algn="ctr" indent="0" marL="0">
              <a:buNone/>
            </a:pPr>
            <a:r>
              <a:rPr lang="en-US" sz="1200" b="1" dirty="0">
                <a:solidFill>
                  <a:srgbClr val="0B6E99"/>
                </a:solidFill>
                <a:latin typeface="Calibri" pitchFamily="34" charset="0"/>
                <a:ea typeface="Calibri" pitchFamily="34" charset="-122"/>
                <a:cs typeface="Calibri" pitchFamily="34" charset="-120"/>
              </a:rPr>
              <a:t>Running taps</a:t>
            </a:r>
            <a:endParaRPr lang="en-US" sz="1200" dirty="0"/>
          </a:p>
        </p:txBody>
      </p:sp>
      <p:sp>
        <p:nvSpPr>
          <p:cNvPr id="15" name="Shape 12"/>
          <p:cNvSpPr/>
          <p:nvPr/>
        </p:nvSpPr>
        <p:spPr>
          <a:xfrm>
            <a:off x="822960" y="3611880"/>
            <a:ext cx="1874520" cy="329184"/>
          </a:xfrm>
          <a:prstGeom prst="roundRect">
            <a:avLst>
              <a:gd name="adj" fmla="val 50000"/>
            </a:avLst>
          </a:prstGeom>
          <a:solidFill>
            <a:srgbClr val="E3F1F7"/>
          </a:solidFill>
          <a:ln w="12700">
            <a:solidFill>
              <a:srgbClr val="E3F1F7"/>
            </a:solidFill>
            <a:prstDash val="solid"/>
          </a:ln>
        </p:spPr>
      </p:sp>
      <p:sp>
        <p:nvSpPr>
          <p:cNvPr id="16" name="Text 13"/>
          <p:cNvSpPr txBox="1"/>
          <p:nvPr/>
        </p:nvSpPr>
        <p:spPr>
          <a:xfrm>
            <a:off x="822960" y="3611880"/>
            <a:ext cx="1874520" cy="329184"/>
          </a:xfrm>
          <a:prstGeom prst="rect">
            <a:avLst/>
          </a:prstGeom>
          <a:noFill/>
          <a:ln/>
        </p:spPr>
        <p:txBody>
          <a:bodyPr wrap="square" lIns="0" tIns="0" rIns="0" bIns="0" rtlCol="0" anchor="ctr"/>
          <a:lstStyle/>
          <a:p>
            <a:pPr algn="ctr" indent="0" marL="0">
              <a:buNone/>
            </a:pPr>
            <a:r>
              <a:rPr lang="en-US" sz="1200" b="1" dirty="0">
                <a:solidFill>
                  <a:srgbClr val="0B6E99"/>
                </a:solidFill>
                <a:latin typeface="Calibri" pitchFamily="34" charset="0"/>
                <a:ea typeface="Calibri" pitchFamily="34" charset="-122"/>
                <a:cs typeface="Calibri" pitchFamily="34" charset="-120"/>
              </a:rPr>
              <a:t>Inefficient dishwashing</a:t>
            </a:r>
            <a:endParaRPr lang="en-US" sz="1200" dirty="0"/>
          </a:p>
        </p:txBody>
      </p:sp>
      <p:sp>
        <p:nvSpPr>
          <p:cNvPr id="17" name="Shape 14"/>
          <p:cNvSpPr/>
          <p:nvPr/>
        </p:nvSpPr>
        <p:spPr>
          <a:xfrm>
            <a:off x="2834640" y="3611880"/>
            <a:ext cx="1371600" cy="329184"/>
          </a:xfrm>
          <a:prstGeom prst="roundRect">
            <a:avLst>
              <a:gd name="adj" fmla="val 50000"/>
            </a:avLst>
          </a:prstGeom>
          <a:solidFill>
            <a:srgbClr val="E3F1F7"/>
          </a:solidFill>
          <a:ln w="12700">
            <a:solidFill>
              <a:srgbClr val="E3F1F7"/>
            </a:solidFill>
            <a:prstDash val="solid"/>
          </a:ln>
        </p:spPr>
      </p:sp>
      <p:sp>
        <p:nvSpPr>
          <p:cNvPr id="18" name="Text 15"/>
          <p:cNvSpPr txBox="1"/>
          <p:nvPr/>
        </p:nvSpPr>
        <p:spPr>
          <a:xfrm>
            <a:off x="2834640" y="3611880"/>
            <a:ext cx="1371600" cy="329184"/>
          </a:xfrm>
          <a:prstGeom prst="rect">
            <a:avLst/>
          </a:prstGeom>
          <a:noFill/>
          <a:ln/>
        </p:spPr>
        <p:txBody>
          <a:bodyPr wrap="square" lIns="0" tIns="0" rIns="0" bIns="0" rtlCol="0" anchor="ctr"/>
          <a:lstStyle/>
          <a:p>
            <a:pPr algn="ctr" indent="0" marL="0">
              <a:buNone/>
            </a:pPr>
            <a:r>
              <a:rPr lang="en-US" sz="1200" b="1" dirty="0">
                <a:solidFill>
                  <a:srgbClr val="0B6E99"/>
                </a:solidFill>
                <a:latin typeface="Calibri" pitchFamily="34" charset="0"/>
                <a:ea typeface="Calibri" pitchFamily="34" charset="-122"/>
                <a:cs typeface="Calibri" pitchFamily="34" charset="-120"/>
              </a:rPr>
              <a:t>Excess laundry</a:t>
            </a:r>
            <a:endParaRPr lang="en-US" sz="1200" dirty="0"/>
          </a:p>
        </p:txBody>
      </p:sp>
      <p:sp>
        <p:nvSpPr>
          <p:cNvPr id="19" name="Shape 16"/>
          <p:cNvSpPr/>
          <p:nvPr/>
        </p:nvSpPr>
        <p:spPr>
          <a:xfrm>
            <a:off x="4343400" y="3611880"/>
            <a:ext cx="1280160" cy="329184"/>
          </a:xfrm>
          <a:prstGeom prst="roundRect">
            <a:avLst>
              <a:gd name="adj" fmla="val 50000"/>
            </a:avLst>
          </a:prstGeom>
          <a:solidFill>
            <a:srgbClr val="E3F1F7"/>
          </a:solidFill>
          <a:ln w="12700">
            <a:solidFill>
              <a:srgbClr val="E3F1F7"/>
            </a:solidFill>
            <a:prstDash val="solid"/>
          </a:ln>
        </p:spPr>
      </p:sp>
      <p:sp>
        <p:nvSpPr>
          <p:cNvPr id="20" name="Text 17"/>
          <p:cNvSpPr txBox="1"/>
          <p:nvPr/>
        </p:nvSpPr>
        <p:spPr>
          <a:xfrm>
            <a:off x="4343400" y="3611880"/>
            <a:ext cx="1280160" cy="329184"/>
          </a:xfrm>
          <a:prstGeom prst="rect">
            <a:avLst/>
          </a:prstGeom>
          <a:noFill/>
          <a:ln/>
        </p:spPr>
        <p:txBody>
          <a:bodyPr wrap="square" lIns="0" tIns="0" rIns="0" bIns="0" rtlCol="0" anchor="ctr"/>
          <a:lstStyle/>
          <a:p>
            <a:pPr algn="ctr" indent="0" marL="0">
              <a:buNone/>
            </a:pPr>
            <a:r>
              <a:rPr lang="en-US" sz="1200" b="1" dirty="0">
                <a:solidFill>
                  <a:srgbClr val="0B6E99"/>
                </a:solidFill>
                <a:latin typeface="Calibri" pitchFamily="34" charset="0"/>
                <a:ea typeface="Calibri" pitchFamily="34" charset="-122"/>
                <a:cs typeface="Calibri" pitchFamily="34" charset="-120"/>
              </a:rPr>
              <a:t>Water leakage</a:t>
            </a:r>
            <a:endParaRPr lang="en-US" sz="1200" dirty="0"/>
          </a:p>
        </p:txBody>
      </p:sp>
      <p:sp>
        <p:nvSpPr>
          <p:cNvPr id="21" name="Shape 18"/>
          <p:cNvSpPr/>
          <p:nvPr/>
        </p:nvSpPr>
        <p:spPr>
          <a:xfrm>
            <a:off x="822960" y="4069080"/>
            <a:ext cx="2194560" cy="329184"/>
          </a:xfrm>
          <a:prstGeom prst="roundRect">
            <a:avLst>
              <a:gd name="adj" fmla="val 50000"/>
            </a:avLst>
          </a:prstGeom>
          <a:solidFill>
            <a:srgbClr val="E3F1F7"/>
          </a:solidFill>
          <a:ln w="12700">
            <a:solidFill>
              <a:srgbClr val="E3F1F7"/>
            </a:solidFill>
            <a:prstDash val="solid"/>
          </a:ln>
        </p:spPr>
      </p:sp>
      <p:sp>
        <p:nvSpPr>
          <p:cNvPr id="22" name="Text 19"/>
          <p:cNvSpPr txBox="1"/>
          <p:nvPr/>
        </p:nvSpPr>
        <p:spPr>
          <a:xfrm>
            <a:off x="822960" y="4069080"/>
            <a:ext cx="2194560" cy="329184"/>
          </a:xfrm>
          <a:prstGeom prst="rect">
            <a:avLst/>
          </a:prstGeom>
          <a:noFill/>
          <a:ln/>
        </p:spPr>
        <p:txBody>
          <a:bodyPr wrap="square" lIns="0" tIns="0" rIns="0" bIns="0" rtlCol="0" anchor="ctr"/>
          <a:lstStyle/>
          <a:p>
            <a:pPr algn="ctr" indent="0" marL="0">
              <a:buNone/>
            </a:pPr>
            <a:r>
              <a:rPr lang="en-US" sz="1200" b="1" dirty="0">
                <a:solidFill>
                  <a:srgbClr val="0B6E99"/>
                </a:solidFill>
                <a:latin typeface="Calibri" pitchFamily="34" charset="0"/>
                <a:ea typeface="Calibri" pitchFamily="34" charset="-122"/>
                <a:cs typeface="Calibri" pitchFamily="34" charset="-120"/>
              </a:rPr>
              <a:t>Gardening / cleaning waste</a:t>
            </a:r>
            <a:endParaRPr lang="en-US" sz="1200" dirty="0"/>
          </a:p>
        </p:txBody>
      </p:sp>
      <p:sp>
        <p:nvSpPr>
          <p:cNvPr id="23" name="Shape 20"/>
          <p:cNvSpPr/>
          <p:nvPr/>
        </p:nvSpPr>
        <p:spPr>
          <a:xfrm>
            <a:off x="822960" y="4617720"/>
            <a:ext cx="4846320" cy="1325880"/>
          </a:xfrm>
          <a:prstGeom prst="roundRect">
            <a:avLst>
              <a:gd name="adj" fmla="val 8276"/>
            </a:avLst>
          </a:prstGeom>
          <a:solidFill>
            <a:srgbClr val="062A40"/>
          </a:solidFill>
          <a:ln w="9525">
            <a:solidFill>
              <a:srgbClr val="062A40"/>
            </a:solidFill>
            <a:prstDash val="solid"/>
          </a:ln>
        </p:spPr>
      </p:sp>
      <p:sp>
        <p:nvSpPr>
          <p:cNvPr id="24" name="Text 21"/>
          <p:cNvSpPr txBox="1"/>
          <p:nvPr/>
        </p:nvSpPr>
        <p:spPr>
          <a:xfrm>
            <a:off x="1051560" y="4754880"/>
            <a:ext cx="4389120" cy="228600"/>
          </a:xfrm>
          <a:prstGeom prst="rect">
            <a:avLst/>
          </a:prstGeom>
          <a:noFill/>
          <a:ln/>
        </p:spPr>
        <p:txBody>
          <a:bodyPr wrap="square" lIns="0" tIns="0" rIns="0" bIns="0" rtlCol="0" anchor="t"/>
          <a:lstStyle/>
          <a:p>
            <a:pPr indent="0" marL="0">
              <a:buNone/>
            </a:pPr>
            <a:r>
              <a:rPr lang="en-US" sz="1100" b="1" spc="200" kern="0" dirty="0">
                <a:solidFill>
                  <a:srgbClr val="0FB5A6"/>
                </a:solidFill>
                <a:latin typeface="Calibri" pitchFamily="34" charset="0"/>
                <a:ea typeface="Calibri" pitchFamily="34" charset="-122"/>
                <a:cs typeface="Calibri" pitchFamily="34" charset="-120"/>
              </a:rPr>
              <a:t>THE CORE QUESTION</a:t>
            </a:r>
            <a:endParaRPr lang="en-US" sz="1100" dirty="0"/>
          </a:p>
        </p:txBody>
      </p:sp>
      <p:sp>
        <p:nvSpPr>
          <p:cNvPr id="25" name="Text 22"/>
          <p:cNvSpPr txBox="1"/>
          <p:nvPr/>
        </p:nvSpPr>
        <p:spPr>
          <a:xfrm>
            <a:off x="1051560" y="5029200"/>
            <a:ext cx="4389120" cy="868680"/>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How can we help households understand their water behaviour, find their wastage points, and get practical guidance to improve efficiency?</a:t>
            </a:r>
            <a:endParaRPr lang="en-US" sz="1400" dirty="0"/>
          </a:p>
        </p:txBody>
      </p:sp>
      <p:sp>
        <p:nvSpPr>
          <p:cNvPr id="26" name="Shape 23"/>
          <p:cNvSpPr/>
          <p:nvPr/>
        </p:nvSpPr>
        <p:spPr>
          <a:xfrm>
            <a:off x="6309360" y="1508760"/>
            <a:ext cx="457200" cy="457200"/>
          </a:xfrm>
          <a:prstGeom prst="ellipse">
            <a:avLst/>
          </a:prstGeom>
          <a:solidFill>
            <a:srgbClr val="0B6E99"/>
          </a:solidFill>
          <a:ln w="12700">
            <a:solidFill>
              <a:srgbClr val="0B6E99"/>
            </a:solidFill>
            <a:prstDash val="solid"/>
          </a:ln>
        </p:spPr>
      </p:sp>
      <p:pic>
        <p:nvPicPr>
          <p:cNvPr id="27" name="Image 1" descr="preencoded.png">    </p:cNvPr>
          <p:cNvPicPr>
            <a:picLocks noChangeAspect="1"/>
          </p:cNvPicPr>
          <p:nvPr/>
        </p:nvPicPr>
        <p:blipFill>
          <a:blip r:embed="rId2"/>
          <a:stretch>
            <a:fillRect/>
          </a:stretch>
        </p:blipFill>
        <p:spPr>
          <a:xfrm>
            <a:off x="6423660" y="1623060"/>
            <a:ext cx="228600" cy="228600"/>
          </a:xfrm>
          <a:prstGeom prst="rect">
            <a:avLst/>
          </a:prstGeom>
        </p:spPr>
      </p:pic>
      <p:sp>
        <p:nvSpPr>
          <p:cNvPr id="28" name="Text 24"/>
          <p:cNvSpPr txBox="1"/>
          <p:nvPr/>
        </p:nvSpPr>
        <p:spPr>
          <a:xfrm>
            <a:off x="6903720" y="1581912"/>
            <a:ext cx="4572000" cy="365760"/>
          </a:xfrm>
          <a:prstGeom prst="rect">
            <a:avLst/>
          </a:prstGeom>
          <a:noFill/>
          <a:ln/>
        </p:spPr>
        <p:txBody>
          <a:bodyPr wrap="square" lIns="0" tIns="0" rIns="0" bIns="0" rtlCol="0" anchor="t"/>
          <a:lstStyle/>
          <a:p>
            <a:pPr indent="0" marL="0">
              <a:buNone/>
            </a:pPr>
            <a:r>
              <a:rPr lang="en-US" sz="2000" b="1" dirty="0">
                <a:solidFill>
                  <a:srgbClr val="0B2239"/>
                </a:solidFill>
                <a:latin typeface="Cambria" pitchFamily="34" charset="0"/>
                <a:ea typeface="Cambria" pitchFamily="34" charset="-122"/>
                <a:cs typeface="Cambria" pitchFamily="34" charset="-120"/>
              </a:rPr>
              <a:t>Our solution: SWUA</a:t>
            </a:r>
            <a:endParaRPr lang="en-US" sz="2000" dirty="0"/>
          </a:p>
        </p:txBody>
      </p:sp>
      <p:sp>
        <p:nvSpPr>
          <p:cNvPr id="29" name="Text 25"/>
          <p:cNvSpPr txBox="1"/>
          <p:nvPr/>
        </p:nvSpPr>
        <p:spPr>
          <a:xfrm>
            <a:off x="6309360" y="2103120"/>
            <a:ext cx="5303520" cy="548640"/>
          </a:xfrm>
          <a:prstGeom prst="rect">
            <a:avLst/>
          </a:prstGeom>
          <a:noFill/>
          <a:ln/>
        </p:spPr>
        <p:txBody>
          <a:bodyPr wrap="square" lIns="0" tIns="0" rIns="0" bIns="0" rtlCol="0" anchor="t"/>
          <a:lstStyle/>
          <a:p>
            <a:pPr indent="0" marL="0">
              <a:buNone/>
            </a:pPr>
            <a:r>
              <a:rPr lang="en-US" sz="1400" dirty="0">
                <a:solidFill>
                  <a:srgbClr val="5B7185"/>
                </a:solidFill>
                <a:latin typeface="Calibri" pitchFamily="34" charset="0"/>
                <a:ea typeface="Calibri" pitchFamily="34" charset="-122"/>
                <a:cs typeface="Calibri" pitchFamily="34" charset="-120"/>
              </a:rPr>
              <a:t>A full-stack web app where users enter daily water-use habits and receive an estimate, breakdown and advice.</a:t>
            </a:r>
            <a:endParaRPr lang="en-US" sz="1400" dirty="0"/>
          </a:p>
        </p:txBody>
      </p:sp>
      <p:sp>
        <p:nvSpPr>
          <p:cNvPr id="30" name="Shape 26"/>
          <p:cNvSpPr/>
          <p:nvPr/>
        </p:nvSpPr>
        <p:spPr>
          <a:xfrm>
            <a:off x="6309360" y="2788920"/>
            <a:ext cx="5330952" cy="603504"/>
          </a:xfrm>
          <a:prstGeom prst="roundRect">
            <a:avLst>
              <a:gd name="adj" fmla="val 18182"/>
            </a:avLst>
          </a:prstGeom>
          <a:solidFill>
            <a:srgbClr val="FFFFFF"/>
          </a:solidFill>
          <a:ln w="9525">
            <a:solidFill>
              <a:srgbClr val="D5E5EE"/>
            </a:solidFill>
            <a:prstDash val="solid"/>
          </a:ln>
          <a:effectLst>
            <a:outerShdw sx="100000" sy="100000" kx="0" ky="0" algn="bl" rotWithShape="0" blurRad="101600" dist="25400" dir="5400000">
              <a:srgbClr val="0B2239">
                <a:alpha val="12000"/>
              </a:srgbClr>
            </a:outerShdw>
          </a:effectLst>
        </p:spPr>
      </p:sp>
      <p:sp>
        <p:nvSpPr>
          <p:cNvPr id="31" name="Shape 27"/>
          <p:cNvSpPr/>
          <p:nvPr/>
        </p:nvSpPr>
        <p:spPr>
          <a:xfrm>
            <a:off x="6446520" y="2907792"/>
            <a:ext cx="365760" cy="365760"/>
          </a:xfrm>
          <a:prstGeom prst="ellipse">
            <a:avLst/>
          </a:prstGeom>
          <a:solidFill>
            <a:srgbClr val="0B6E99"/>
          </a:solidFill>
          <a:ln w="12700">
            <a:solidFill>
              <a:srgbClr val="0B6E99"/>
            </a:solidFill>
            <a:prstDash val="solid"/>
          </a:ln>
        </p:spPr>
      </p:sp>
      <p:sp>
        <p:nvSpPr>
          <p:cNvPr id="32" name="Text 28"/>
          <p:cNvSpPr txBox="1"/>
          <p:nvPr/>
        </p:nvSpPr>
        <p:spPr>
          <a:xfrm>
            <a:off x="6446520" y="2907792"/>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33" name="Text 29"/>
          <p:cNvSpPr txBox="1"/>
          <p:nvPr/>
        </p:nvSpPr>
        <p:spPr>
          <a:xfrm>
            <a:off x="6995160" y="2862072"/>
            <a:ext cx="4480560" cy="256032"/>
          </a:xfrm>
          <a:prstGeom prst="rect">
            <a:avLst/>
          </a:prstGeom>
          <a:noFill/>
          <a:ln/>
        </p:spPr>
        <p:txBody>
          <a:bodyPr wrap="square" lIns="0" tIns="0" rIns="0" bIns="0" rtlCol="0" anchor="t"/>
          <a:lstStyle/>
          <a:p>
            <a:pPr indent="0" marL="0">
              <a:buNone/>
            </a:pPr>
            <a:r>
              <a:rPr lang="en-US" sz="1400" b="1" dirty="0">
                <a:solidFill>
                  <a:srgbClr val="0B2239"/>
                </a:solidFill>
                <a:latin typeface="Calibri" pitchFamily="34" charset="0"/>
                <a:ea typeface="Calibri" pitchFamily="34" charset="-122"/>
                <a:cs typeface="Calibri" pitchFamily="34" charset="-120"/>
              </a:rPr>
              <a:t>User inputs</a:t>
            </a:r>
            <a:endParaRPr lang="en-US" sz="1400" dirty="0"/>
          </a:p>
        </p:txBody>
      </p:sp>
      <p:sp>
        <p:nvSpPr>
          <p:cNvPr id="34" name="Text 30"/>
          <p:cNvSpPr txBox="1"/>
          <p:nvPr/>
        </p:nvSpPr>
        <p:spPr>
          <a:xfrm>
            <a:off x="6995160" y="3118104"/>
            <a:ext cx="4480560" cy="228600"/>
          </a:xfrm>
          <a:prstGeom prst="rect">
            <a:avLst/>
          </a:prstGeom>
          <a:noFill/>
          <a:ln/>
        </p:spPr>
        <p:txBody>
          <a:bodyPr wrap="square" lIns="0" tIns="0" rIns="0" bIns="0" rtlCol="0" anchor="t"/>
          <a:lstStyle/>
          <a:p>
            <a:pPr indent="0" marL="0">
              <a:buNone/>
            </a:pPr>
            <a:r>
              <a:rPr lang="en-US" sz="1200" dirty="0">
                <a:solidFill>
                  <a:srgbClr val="5B7185"/>
                </a:solidFill>
                <a:latin typeface="Calibri" pitchFamily="34" charset="0"/>
                <a:ea typeface="Calibri" pitchFamily="34" charset="-122"/>
                <a:cs typeface="Calibri" pitchFamily="34" charset="-120"/>
              </a:rPr>
              <a:t>Household size, showers, toilet, kitchen, laundry, leaks</a:t>
            </a:r>
            <a:endParaRPr lang="en-US" sz="1200" dirty="0"/>
          </a:p>
        </p:txBody>
      </p:sp>
      <p:sp>
        <p:nvSpPr>
          <p:cNvPr id="35" name="Shape 31"/>
          <p:cNvSpPr/>
          <p:nvPr/>
        </p:nvSpPr>
        <p:spPr>
          <a:xfrm>
            <a:off x="6309360" y="3465576"/>
            <a:ext cx="5330952" cy="603504"/>
          </a:xfrm>
          <a:prstGeom prst="roundRect">
            <a:avLst>
              <a:gd name="adj" fmla="val 18182"/>
            </a:avLst>
          </a:prstGeom>
          <a:solidFill>
            <a:srgbClr val="FFFFFF"/>
          </a:solidFill>
          <a:ln w="9525">
            <a:solidFill>
              <a:srgbClr val="D5E5EE"/>
            </a:solidFill>
            <a:prstDash val="solid"/>
          </a:ln>
          <a:effectLst>
            <a:outerShdw sx="100000" sy="100000" kx="0" ky="0" algn="bl" rotWithShape="0" blurRad="101600" dist="25400" dir="5400000">
              <a:srgbClr val="0B2239">
                <a:alpha val="12000"/>
              </a:srgbClr>
            </a:outerShdw>
          </a:effectLst>
        </p:spPr>
      </p:sp>
      <p:sp>
        <p:nvSpPr>
          <p:cNvPr id="36" name="Shape 32"/>
          <p:cNvSpPr/>
          <p:nvPr/>
        </p:nvSpPr>
        <p:spPr>
          <a:xfrm>
            <a:off x="6446520" y="3584448"/>
            <a:ext cx="365760" cy="365760"/>
          </a:xfrm>
          <a:prstGeom prst="ellipse">
            <a:avLst/>
          </a:prstGeom>
          <a:solidFill>
            <a:srgbClr val="0B6E99"/>
          </a:solidFill>
          <a:ln w="12700">
            <a:solidFill>
              <a:srgbClr val="0B6E99"/>
            </a:solidFill>
            <a:prstDash val="solid"/>
          </a:ln>
        </p:spPr>
      </p:sp>
      <p:sp>
        <p:nvSpPr>
          <p:cNvPr id="37" name="Text 33"/>
          <p:cNvSpPr txBox="1"/>
          <p:nvPr/>
        </p:nvSpPr>
        <p:spPr>
          <a:xfrm>
            <a:off x="6446520" y="3584448"/>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38" name="Text 34"/>
          <p:cNvSpPr txBox="1"/>
          <p:nvPr/>
        </p:nvSpPr>
        <p:spPr>
          <a:xfrm>
            <a:off x="6995160" y="3538728"/>
            <a:ext cx="4480560" cy="256032"/>
          </a:xfrm>
          <a:prstGeom prst="rect">
            <a:avLst/>
          </a:prstGeom>
          <a:noFill/>
          <a:ln/>
        </p:spPr>
        <p:txBody>
          <a:bodyPr wrap="square" lIns="0" tIns="0" rIns="0" bIns="0" rtlCol="0" anchor="t"/>
          <a:lstStyle/>
          <a:p>
            <a:pPr indent="0" marL="0">
              <a:buNone/>
            </a:pPr>
            <a:r>
              <a:rPr lang="en-US" sz="1400" b="1" dirty="0">
                <a:solidFill>
                  <a:srgbClr val="0B2239"/>
                </a:solidFill>
                <a:latin typeface="Calibri" pitchFamily="34" charset="0"/>
                <a:ea typeface="Calibri" pitchFamily="34" charset="-122"/>
                <a:cs typeface="Calibri" pitchFamily="34" charset="-120"/>
              </a:rPr>
              <a:t>Consumption calculation</a:t>
            </a:r>
            <a:endParaRPr lang="en-US" sz="1400" dirty="0"/>
          </a:p>
        </p:txBody>
      </p:sp>
      <p:sp>
        <p:nvSpPr>
          <p:cNvPr id="39" name="Text 35"/>
          <p:cNvSpPr txBox="1"/>
          <p:nvPr/>
        </p:nvSpPr>
        <p:spPr>
          <a:xfrm>
            <a:off x="6995160" y="3794760"/>
            <a:ext cx="4480560" cy="228600"/>
          </a:xfrm>
          <a:prstGeom prst="rect">
            <a:avLst/>
          </a:prstGeom>
          <a:noFill/>
          <a:ln/>
        </p:spPr>
        <p:txBody>
          <a:bodyPr wrap="square" lIns="0" tIns="0" rIns="0" bIns="0" rtlCol="0" anchor="t"/>
          <a:lstStyle/>
          <a:p>
            <a:pPr indent="0" marL="0">
              <a:buNone/>
            </a:pPr>
            <a:r>
              <a:rPr lang="en-US" sz="1200" dirty="0">
                <a:solidFill>
                  <a:srgbClr val="5B7185"/>
                </a:solidFill>
                <a:latin typeface="Calibri" pitchFamily="34" charset="0"/>
                <a:ea typeface="Calibri" pitchFamily="34" charset="-122"/>
                <a:cs typeface="Calibri" pitchFamily="34" charset="-120"/>
              </a:rPr>
              <a:t>Deterministic engine using empirical flow rates</a:t>
            </a:r>
            <a:endParaRPr lang="en-US" sz="1200" dirty="0"/>
          </a:p>
        </p:txBody>
      </p:sp>
      <p:sp>
        <p:nvSpPr>
          <p:cNvPr id="40" name="Shape 36"/>
          <p:cNvSpPr/>
          <p:nvPr/>
        </p:nvSpPr>
        <p:spPr>
          <a:xfrm>
            <a:off x="6309360" y="4142232"/>
            <a:ext cx="5330952" cy="603504"/>
          </a:xfrm>
          <a:prstGeom prst="roundRect">
            <a:avLst>
              <a:gd name="adj" fmla="val 18182"/>
            </a:avLst>
          </a:prstGeom>
          <a:solidFill>
            <a:srgbClr val="FFFFFF"/>
          </a:solidFill>
          <a:ln w="9525">
            <a:solidFill>
              <a:srgbClr val="D5E5EE"/>
            </a:solidFill>
            <a:prstDash val="solid"/>
          </a:ln>
          <a:effectLst>
            <a:outerShdw sx="100000" sy="100000" kx="0" ky="0" algn="bl" rotWithShape="0" blurRad="101600" dist="25400" dir="5400000">
              <a:srgbClr val="0B2239">
                <a:alpha val="12000"/>
              </a:srgbClr>
            </a:outerShdw>
          </a:effectLst>
        </p:spPr>
      </p:sp>
      <p:sp>
        <p:nvSpPr>
          <p:cNvPr id="41" name="Shape 37"/>
          <p:cNvSpPr/>
          <p:nvPr/>
        </p:nvSpPr>
        <p:spPr>
          <a:xfrm>
            <a:off x="6446520" y="4261104"/>
            <a:ext cx="365760" cy="365760"/>
          </a:xfrm>
          <a:prstGeom prst="ellipse">
            <a:avLst/>
          </a:prstGeom>
          <a:solidFill>
            <a:srgbClr val="0B6E99"/>
          </a:solidFill>
          <a:ln w="12700">
            <a:solidFill>
              <a:srgbClr val="0B6E99"/>
            </a:solidFill>
            <a:prstDash val="solid"/>
          </a:ln>
        </p:spPr>
      </p:sp>
      <p:sp>
        <p:nvSpPr>
          <p:cNvPr id="42" name="Text 38"/>
          <p:cNvSpPr txBox="1"/>
          <p:nvPr/>
        </p:nvSpPr>
        <p:spPr>
          <a:xfrm>
            <a:off x="6446520" y="426110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43" name="Text 39"/>
          <p:cNvSpPr txBox="1"/>
          <p:nvPr/>
        </p:nvSpPr>
        <p:spPr>
          <a:xfrm>
            <a:off x="6995160" y="4215384"/>
            <a:ext cx="4480560" cy="256032"/>
          </a:xfrm>
          <a:prstGeom prst="rect">
            <a:avLst/>
          </a:prstGeom>
          <a:noFill/>
          <a:ln/>
        </p:spPr>
        <p:txBody>
          <a:bodyPr wrap="square" lIns="0" tIns="0" rIns="0" bIns="0" rtlCol="0" anchor="t"/>
          <a:lstStyle/>
          <a:p>
            <a:pPr indent="0" marL="0">
              <a:buNone/>
            </a:pPr>
            <a:r>
              <a:rPr lang="en-US" sz="1400" b="1" dirty="0">
                <a:solidFill>
                  <a:srgbClr val="0B2239"/>
                </a:solidFill>
                <a:latin typeface="Calibri" pitchFamily="34" charset="0"/>
                <a:ea typeface="Calibri" pitchFamily="34" charset="-122"/>
                <a:cs typeface="Calibri" pitchFamily="34" charset="-120"/>
              </a:rPr>
              <a:t>Usage breakdown</a:t>
            </a:r>
            <a:endParaRPr lang="en-US" sz="1400" dirty="0"/>
          </a:p>
        </p:txBody>
      </p:sp>
      <p:sp>
        <p:nvSpPr>
          <p:cNvPr id="44" name="Text 40"/>
          <p:cNvSpPr txBox="1"/>
          <p:nvPr/>
        </p:nvSpPr>
        <p:spPr>
          <a:xfrm>
            <a:off x="6995160" y="4471416"/>
            <a:ext cx="4480560" cy="228600"/>
          </a:xfrm>
          <a:prstGeom prst="rect">
            <a:avLst/>
          </a:prstGeom>
          <a:noFill/>
          <a:ln/>
        </p:spPr>
        <p:txBody>
          <a:bodyPr wrap="square" lIns="0" tIns="0" rIns="0" bIns="0" rtlCol="0" anchor="t"/>
          <a:lstStyle/>
          <a:p>
            <a:pPr indent="0" marL="0">
              <a:buNone/>
            </a:pPr>
            <a:r>
              <a:rPr lang="en-US" sz="1200" dirty="0">
                <a:solidFill>
                  <a:srgbClr val="5B7185"/>
                </a:solidFill>
                <a:latin typeface="Calibri" pitchFamily="34" charset="0"/>
                <a:ea typeface="Calibri" pitchFamily="34" charset="-122"/>
                <a:cs typeface="Calibri" pitchFamily="34" charset="-120"/>
              </a:rPr>
              <a:t>Category-wise litres per day and share</a:t>
            </a:r>
            <a:endParaRPr lang="en-US" sz="1200" dirty="0"/>
          </a:p>
        </p:txBody>
      </p:sp>
      <p:sp>
        <p:nvSpPr>
          <p:cNvPr id="45" name="Shape 41"/>
          <p:cNvSpPr/>
          <p:nvPr/>
        </p:nvSpPr>
        <p:spPr>
          <a:xfrm>
            <a:off x="6309360" y="4818888"/>
            <a:ext cx="5330952" cy="603504"/>
          </a:xfrm>
          <a:prstGeom prst="roundRect">
            <a:avLst>
              <a:gd name="adj" fmla="val 18182"/>
            </a:avLst>
          </a:prstGeom>
          <a:solidFill>
            <a:srgbClr val="FFFFFF"/>
          </a:solidFill>
          <a:ln w="9525">
            <a:solidFill>
              <a:srgbClr val="D5E5EE"/>
            </a:solidFill>
            <a:prstDash val="solid"/>
          </a:ln>
          <a:effectLst>
            <a:outerShdw sx="100000" sy="100000" kx="0" ky="0" algn="bl" rotWithShape="0" blurRad="101600" dist="25400" dir="5400000">
              <a:srgbClr val="0B2239">
                <a:alpha val="12000"/>
              </a:srgbClr>
            </a:outerShdw>
          </a:effectLst>
        </p:spPr>
      </p:sp>
      <p:sp>
        <p:nvSpPr>
          <p:cNvPr id="46" name="Shape 42"/>
          <p:cNvSpPr/>
          <p:nvPr/>
        </p:nvSpPr>
        <p:spPr>
          <a:xfrm>
            <a:off x="6446520" y="4937760"/>
            <a:ext cx="365760" cy="365760"/>
          </a:xfrm>
          <a:prstGeom prst="ellipse">
            <a:avLst/>
          </a:prstGeom>
          <a:solidFill>
            <a:srgbClr val="0B6E99"/>
          </a:solidFill>
          <a:ln w="12700">
            <a:solidFill>
              <a:srgbClr val="0B6E99"/>
            </a:solidFill>
            <a:prstDash val="solid"/>
          </a:ln>
        </p:spPr>
      </p:sp>
      <p:sp>
        <p:nvSpPr>
          <p:cNvPr id="47" name="Text 43"/>
          <p:cNvSpPr txBox="1"/>
          <p:nvPr/>
        </p:nvSpPr>
        <p:spPr>
          <a:xfrm>
            <a:off x="6446520" y="493776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48" name="Text 44"/>
          <p:cNvSpPr txBox="1"/>
          <p:nvPr/>
        </p:nvSpPr>
        <p:spPr>
          <a:xfrm>
            <a:off x="6995160" y="4892040"/>
            <a:ext cx="4480560" cy="256032"/>
          </a:xfrm>
          <a:prstGeom prst="rect">
            <a:avLst/>
          </a:prstGeom>
          <a:noFill/>
          <a:ln/>
        </p:spPr>
        <p:txBody>
          <a:bodyPr wrap="square" lIns="0" tIns="0" rIns="0" bIns="0" rtlCol="0" anchor="t"/>
          <a:lstStyle/>
          <a:p>
            <a:pPr indent="0" marL="0">
              <a:buNone/>
            </a:pPr>
            <a:r>
              <a:rPr lang="en-US" sz="1400" b="1" dirty="0">
                <a:solidFill>
                  <a:srgbClr val="0B2239"/>
                </a:solidFill>
                <a:latin typeface="Calibri" pitchFamily="34" charset="0"/>
                <a:ea typeface="Calibri" pitchFamily="34" charset="-122"/>
                <a:cs typeface="Calibri" pitchFamily="34" charset="-120"/>
              </a:rPr>
              <a:t>Wastage detection</a:t>
            </a:r>
            <a:endParaRPr lang="en-US" sz="1400" dirty="0"/>
          </a:p>
        </p:txBody>
      </p:sp>
      <p:sp>
        <p:nvSpPr>
          <p:cNvPr id="49" name="Text 45"/>
          <p:cNvSpPr txBox="1"/>
          <p:nvPr/>
        </p:nvSpPr>
        <p:spPr>
          <a:xfrm>
            <a:off x="6995160" y="5148072"/>
            <a:ext cx="4480560" cy="228600"/>
          </a:xfrm>
          <a:prstGeom prst="rect">
            <a:avLst/>
          </a:prstGeom>
          <a:noFill/>
          <a:ln/>
        </p:spPr>
        <p:txBody>
          <a:bodyPr wrap="square" lIns="0" tIns="0" rIns="0" bIns="0" rtlCol="0" anchor="t"/>
          <a:lstStyle/>
          <a:p>
            <a:pPr indent="0" marL="0">
              <a:buNone/>
            </a:pPr>
            <a:r>
              <a:rPr lang="en-US" sz="1200" dirty="0">
                <a:solidFill>
                  <a:srgbClr val="5B7185"/>
                </a:solidFill>
                <a:latin typeface="Calibri" pitchFamily="34" charset="0"/>
                <a:ea typeface="Calibri" pitchFamily="34" charset="-122"/>
                <a:cs typeface="Calibri" pitchFamily="34" charset="-120"/>
              </a:rPr>
              <a:t>Top opportunities to reduce water use</a:t>
            </a:r>
            <a:endParaRPr lang="en-US" sz="1200" dirty="0"/>
          </a:p>
        </p:txBody>
      </p:sp>
      <p:sp>
        <p:nvSpPr>
          <p:cNvPr id="50" name="Shape 46"/>
          <p:cNvSpPr/>
          <p:nvPr/>
        </p:nvSpPr>
        <p:spPr>
          <a:xfrm>
            <a:off x="6309360" y="5495544"/>
            <a:ext cx="5330952" cy="603504"/>
          </a:xfrm>
          <a:prstGeom prst="roundRect">
            <a:avLst>
              <a:gd name="adj" fmla="val 18182"/>
            </a:avLst>
          </a:prstGeom>
          <a:solidFill>
            <a:srgbClr val="FFFFFF"/>
          </a:solidFill>
          <a:ln w="9525">
            <a:solidFill>
              <a:srgbClr val="D5E5EE"/>
            </a:solidFill>
            <a:prstDash val="solid"/>
          </a:ln>
          <a:effectLst>
            <a:outerShdw sx="100000" sy="100000" kx="0" ky="0" algn="bl" rotWithShape="0" blurRad="101600" dist="25400" dir="5400000">
              <a:srgbClr val="0B2239">
                <a:alpha val="12000"/>
              </a:srgbClr>
            </a:outerShdw>
          </a:effectLst>
        </p:spPr>
      </p:sp>
      <p:sp>
        <p:nvSpPr>
          <p:cNvPr id="51" name="Shape 47"/>
          <p:cNvSpPr/>
          <p:nvPr/>
        </p:nvSpPr>
        <p:spPr>
          <a:xfrm>
            <a:off x="6446520" y="5614416"/>
            <a:ext cx="365760" cy="365760"/>
          </a:xfrm>
          <a:prstGeom prst="ellipse">
            <a:avLst/>
          </a:prstGeom>
          <a:solidFill>
            <a:srgbClr val="0FB5A6"/>
          </a:solidFill>
          <a:ln w="12700">
            <a:solidFill>
              <a:srgbClr val="0FB5A6"/>
            </a:solidFill>
            <a:prstDash val="solid"/>
          </a:ln>
        </p:spPr>
      </p:sp>
      <p:sp>
        <p:nvSpPr>
          <p:cNvPr id="52" name="Text 48"/>
          <p:cNvSpPr txBox="1"/>
          <p:nvPr/>
        </p:nvSpPr>
        <p:spPr>
          <a:xfrm>
            <a:off x="6446520" y="5614416"/>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53" name="Text 49"/>
          <p:cNvSpPr txBox="1"/>
          <p:nvPr/>
        </p:nvSpPr>
        <p:spPr>
          <a:xfrm>
            <a:off x="6995160" y="5568696"/>
            <a:ext cx="4480560" cy="256032"/>
          </a:xfrm>
          <a:prstGeom prst="rect">
            <a:avLst/>
          </a:prstGeom>
          <a:noFill/>
          <a:ln/>
        </p:spPr>
        <p:txBody>
          <a:bodyPr wrap="square" lIns="0" tIns="0" rIns="0" bIns="0" rtlCol="0" anchor="t"/>
          <a:lstStyle/>
          <a:p>
            <a:pPr indent="0" marL="0">
              <a:buNone/>
            </a:pPr>
            <a:r>
              <a:rPr lang="en-US" sz="1400" b="1" dirty="0">
                <a:solidFill>
                  <a:srgbClr val="0B2239"/>
                </a:solidFill>
                <a:latin typeface="Calibri" pitchFamily="34" charset="0"/>
                <a:ea typeface="Calibri" pitchFamily="34" charset="-122"/>
                <a:cs typeface="Calibri" pitchFamily="34" charset="-120"/>
              </a:rPr>
              <a:t>AI / RAG advice</a:t>
            </a:r>
            <a:endParaRPr lang="en-US" sz="1400" dirty="0"/>
          </a:p>
        </p:txBody>
      </p:sp>
      <p:sp>
        <p:nvSpPr>
          <p:cNvPr id="54" name="Text 50"/>
          <p:cNvSpPr txBox="1"/>
          <p:nvPr/>
        </p:nvSpPr>
        <p:spPr>
          <a:xfrm>
            <a:off x="6995160" y="5824728"/>
            <a:ext cx="4480560" cy="228600"/>
          </a:xfrm>
          <a:prstGeom prst="rect">
            <a:avLst/>
          </a:prstGeom>
          <a:noFill/>
          <a:ln/>
        </p:spPr>
        <p:txBody>
          <a:bodyPr wrap="square" lIns="0" tIns="0" rIns="0" bIns="0" rtlCol="0" anchor="t"/>
          <a:lstStyle/>
          <a:p>
            <a:pPr indent="0" marL="0">
              <a:buNone/>
            </a:pPr>
            <a:r>
              <a:rPr lang="en-US" sz="1200" dirty="0">
                <a:solidFill>
                  <a:srgbClr val="5B7185"/>
                </a:solidFill>
                <a:latin typeface="Calibri" pitchFamily="34" charset="0"/>
                <a:ea typeface="Calibri" pitchFamily="34" charset="-122"/>
                <a:cs typeface="Calibri" pitchFamily="34" charset="-120"/>
              </a:rPr>
              <a:t>Aqua Advisor gives personalised recommendations</a:t>
            </a:r>
            <a:endParaRPr lang="en-US" sz="1200" dirty="0"/>
          </a:p>
        </p:txBody>
      </p:sp>
      <p:sp>
        <p:nvSpPr>
          <p:cNvPr id="55" name="Text 51"/>
          <p:cNvSpPr txBox="1"/>
          <p:nvPr/>
        </p:nvSpPr>
        <p:spPr>
          <a:xfrm>
            <a:off x="548640" y="6510528"/>
            <a:ext cx="5486400" cy="228600"/>
          </a:xfrm>
          <a:prstGeom prst="rect">
            <a:avLst/>
          </a:prstGeom>
          <a:noFill/>
          <a:ln/>
        </p:spPr>
        <p:txBody>
          <a:bodyPr wrap="square" lIns="0" tIns="0" rIns="0" bIns="0" rtlCol="0" anchor="t"/>
          <a:lstStyle/>
          <a:p>
            <a:pPr indent="0" marL="0">
              <a:buNone/>
            </a:pPr>
            <a:r>
              <a:rPr lang="en-US" sz="1000" dirty="0">
                <a:solidFill>
                  <a:srgbClr val="5B7185"/>
                </a:solidFill>
                <a:latin typeface="Calibri" pitchFamily="34" charset="0"/>
                <a:ea typeface="Calibri" pitchFamily="34" charset="-122"/>
                <a:cs typeface="Calibri" pitchFamily="34" charset="-120"/>
              </a:rPr>
              <a:t>Smart Water Usage Advisor  |  SDG 6.4</a:t>
            </a:r>
            <a:endParaRPr lang="en-US" sz="1000" dirty="0"/>
          </a:p>
        </p:txBody>
      </p:sp>
      <p:sp>
        <p:nvSpPr>
          <p:cNvPr id="56" name="Text 52"/>
          <p:cNvSpPr txBox="1"/>
          <p:nvPr/>
        </p:nvSpPr>
        <p:spPr>
          <a:xfrm>
            <a:off x="10725912" y="6510528"/>
            <a:ext cx="914400" cy="228600"/>
          </a:xfrm>
          <a:prstGeom prst="rect">
            <a:avLst/>
          </a:prstGeom>
          <a:noFill/>
          <a:ln/>
        </p:spPr>
        <p:txBody>
          <a:bodyPr wrap="square" lIns="0" tIns="0" rIns="0" bIns="0" rtlCol="0" anchor="t"/>
          <a:lstStyle/>
          <a:p>
            <a:pPr algn="r" indent="0" marL="0">
              <a:buNone/>
            </a:pPr>
            <a:r>
              <a:rPr lang="en-US" sz="1000" dirty="0">
                <a:solidFill>
                  <a:srgbClr val="5B7185"/>
                </a:solidFill>
                <a:latin typeface="Calibri" pitchFamily="34" charset="0"/>
                <a:ea typeface="Calibri" pitchFamily="34" charset="-122"/>
                <a:cs typeface="Calibri" pitchFamily="34" charset="-120"/>
              </a:rPr>
              <a:t>2 / 9</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2F8FB"/>
        </a:solidFill>
      </p:bgPr>
    </p:bg>
    <p:spTree>
      <p:nvGrpSpPr>
        <p:cNvPr id="1" name=""/>
        <p:cNvGrpSpPr/>
        <p:nvPr/>
      </p:nvGrpSpPr>
      <p:grpSpPr>
        <a:xfrm>
          <a:off x="0" y="0"/>
          <a:ext cx="0" cy="0"/>
          <a:chOff x="0" y="0"/>
          <a:chExt cx="0" cy="0"/>
        </a:xfrm>
      </p:grpSpPr>
      <p:sp>
        <p:nvSpPr>
          <p:cNvPr id="2" name="Text 0"/>
          <p:cNvSpPr txBox="1"/>
          <p:nvPr/>
        </p:nvSpPr>
        <p:spPr>
          <a:xfrm>
            <a:off x="548640" y="365760"/>
            <a:ext cx="7315200" cy="274320"/>
          </a:xfrm>
          <a:prstGeom prst="rect">
            <a:avLst/>
          </a:prstGeom>
          <a:noFill/>
          <a:ln/>
        </p:spPr>
        <p:txBody>
          <a:bodyPr wrap="square" lIns="0" tIns="0" rIns="0" bIns="0" rtlCol="0" anchor="t"/>
          <a:lstStyle/>
          <a:p>
            <a:pPr indent="0" marL="0">
              <a:buNone/>
            </a:pPr>
            <a:r>
              <a:rPr lang="en-US" sz="1200" b="1" spc="300" kern="0" dirty="0">
                <a:solidFill>
                  <a:srgbClr val="0FB5A6"/>
                </a:solidFill>
                <a:latin typeface="Calibri" pitchFamily="34" charset="0"/>
                <a:ea typeface="Calibri" pitchFamily="34" charset="-122"/>
                <a:cs typeface="Calibri" pitchFamily="34" charset="-120"/>
              </a:rPr>
              <a:t>02  SDG ALIGNMENT &amp; USERS</a:t>
            </a:r>
            <a:endParaRPr lang="en-US" sz="1200" dirty="0"/>
          </a:p>
        </p:txBody>
      </p:sp>
      <p:sp>
        <p:nvSpPr>
          <p:cNvPr id="3" name="Text 1"/>
          <p:cNvSpPr txBox="1"/>
          <p:nvPr/>
        </p:nvSpPr>
        <p:spPr>
          <a:xfrm>
            <a:off x="548640" y="658368"/>
            <a:ext cx="11064240" cy="640080"/>
          </a:xfrm>
          <a:prstGeom prst="rect">
            <a:avLst/>
          </a:prstGeom>
          <a:noFill/>
          <a:ln/>
        </p:spPr>
        <p:txBody>
          <a:bodyPr wrap="square" lIns="0" tIns="0" rIns="0" bIns="0" rtlCol="0" anchor="t"/>
          <a:lstStyle/>
          <a:p>
            <a:pPr indent="0" marL="0">
              <a:buNone/>
            </a:pPr>
            <a:r>
              <a:rPr lang="en-US" sz="3200" b="1" dirty="0">
                <a:solidFill>
                  <a:srgbClr val="0B2239"/>
                </a:solidFill>
                <a:latin typeface="Cambria" pitchFamily="34" charset="0"/>
                <a:ea typeface="Cambria" pitchFamily="34" charset="-122"/>
                <a:cs typeface="Cambria" pitchFamily="34" charset="-120"/>
              </a:rPr>
              <a:t>Built for UN SDG 6.4</a:t>
            </a:r>
            <a:endParaRPr lang="en-US" sz="3200" dirty="0"/>
          </a:p>
        </p:txBody>
      </p:sp>
      <p:sp>
        <p:nvSpPr>
          <p:cNvPr id="4" name="Shape 2"/>
          <p:cNvSpPr/>
          <p:nvPr/>
        </p:nvSpPr>
        <p:spPr>
          <a:xfrm>
            <a:off x="548640" y="1508760"/>
            <a:ext cx="4572000" cy="4663440"/>
          </a:xfrm>
          <a:prstGeom prst="roundRect">
            <a:avLst>
              <a:gd name="adj" fmla="val 2400"/>
            </a:avLst>
          </a:prstGeom>
          <a:solidFill>
            <a:srgbClr val="062A40"/>
          </a:solidFill>
          <a:ln w="9525">
            <a:solidFill>
              <a:srgbClr val="062A40"/>
            </a:solidFill>
            <a:prstDash val="solid"/>
          </a:ln>
        </p:spPr>
      </p:sp>
      <p:sp>
        <p:nvSpPr>
          <p:cNvPr id="5" name="Text 3"/>
          <p:cNvSpPr txBox="1"/>
          <p:nvPr/>
        </p:nvSpPr>
        <p:spPr>
          <a:xfrm>
            <a:off x="868680" y="1783080"/>
            <a:ext cx="4023360" cy="274320"/>
          </a:xfrm>
          <a:prstGeom prst="rect">
            <a:avLst/>
          </a:prstGeom>
          <a:noFill/>
          <a:ln/>
        </p:spPr>
        <p:txBody>
          <a:bodyPr wrap="square" lIns="0" tIns="0" rIns="0" bIns="0" rtlCol="0" anchor="t"/>
          <a:lstStyle/>
          <a:p>
            <a:pPr indent="0" marL="0">
              <a:buNone/>
            </a:pPr>
            <a:r>
              <a:rPr lang="en-US" sz="1100" b="1" spc="200" kern="0" dirty="0">
                <a:solidFill>
                  <a:srgbClr val="0FB5A6"/>
                </a:solidFill>
                <a:latin typeface="Calibri" pitchFamily="34" charset="0"/>
                <a:ea typeface="Calibri" pitchFamily="34" charset="-122"/>
                <a:cs typeface="Calibri" pitchFamily="34" charset="-120"/>
              </a:rPr>
              <a:t>CLEAN WATER AND SANITATION</a:t>
            </a:r>
            <a:endParaRPr lang="en-US" sz="1100" dirty="0"/>
          </a:p>
        </p:txBody>
      </p:sp>
      <p:sp>
        <p:nvSpPr>
          <p:cNvPr id="6" name="Text 4"/>
          <p:cNvSpPr txBox="1"/>
          <p:nvPr/>
        </p:nvSpPr>
        <p:spPr>
          <a:xfrm>
            <a:off x="868680" y="2011680"/>
            <a:ext cx="3657600" cy="1234440"/>
          </a:xfrm>
          <a:prstGeom prst="rect">
            <a:avLst/>
          </a:prstGeom>
          <a:noFill/>
          <a:ln/>
        </p:spPr>
        <p:txBody>
          <a:bodyPr wrap="square" lIns="0" tIns="0" rIns="0" bIns="0" rtlCol="0" anchor="t"/>
          <a:lstStyle/>
          <a:p>
            <a:pPr indent="0" marL="0">
              <a:buNone/>
            </a:pPr>
            <a:r>
              <a:rPr lang="en-US" sz="8800" b="1" dirty="0">
                <a:solidFill>
                  <a:srgbClr val="FFFFFF"/>
                </a:solidFill>
                <a:latin typeface="Cambria" pitchFamily="34" charset="0"/>
                <a:ea typeface="Cambria" pitchFamily="34" charset="-122"/>
                <a:cs typeface="Cambria" pitchFamily="34" charset="-120"/>
              </a:rPr>
              <a:t>6.4</a:t>
            </a:r>
            <a:endParaRPr lang="en-US" sz="8800" dirty="0"/>
          </a:p>
        </p:txBody>
      </p:sp>
      <p:sp>
        <p:nvSpPr>
          <p:cNvPr id="7" name="Text 5"/>
          <p:cNvSpPr txBox="1"/>
          <p:nvPr/>
        </p:nvSpPr>
        <p:spPr>
          <a:xfrm>
            <a:off x="868680" y="3291840"/>
            <a:ext cx="3840480" cy="365760"/>
          </a:xfrm>
          <a:prstGeom prst="rect">
            <a:avLst/>
          </a:prstGeom>
          <a:noFill/>
          <a:ln/>
        </p:spPr>
        <p:txBody>
          <a:bodyPr wrap="square" lIns="0" tIns="0" rIns="0" bIns="0" rtlCol="0" anchor="t"/>
          <a:lstStyle/>
          <a:p>
            <a:pPr indent="0" marL="0">
              <a:buNone/>
            </a:pPr>
            <a:r>
              <a:rPr lang="en-US" sz="2000" dirty="0">
                <a:solidFill>
                  <a:srgbClr val="CFE8F3"/>
                </a:solidFill>
                <a:latin typeface="Cambria" pitchFamily="34" charset="0"/>
                <a:ea typeface="Cambria" pitchFamily="34" charset="-122"/>
                <a:cs typeface="Cambria" pitchFamily="34" charset="-120"/>
              </a:rPr>
              <a:t>Water-Use Efficiency</a:t>
            </a:r>
            <a:endParaRPr lang="en-US" sz="2000" dirty="0"/>
          </a:p>
        </p:txBody>
      </p:sp>
      <p:sp>
        <p:nvSpPr>
          <p:cNvPr id="8" name="Text 6"/>
          <p:cNvSpPr txBox="1"/>
          <p:nvPr/>
        </p:nvSpPr>
        <p:spPr>
          <a:xfrm>
            <a:off x="868680" y="3794760"/>
            <a:ext cx="3840480" cy="274320"/>
          </a:xfrm>
          <a:prstGeom prst="rect">
            <a:avLst/>
          </a:prstGeom>
          <a:noFill/>
          <a:ln/>
        </p:spPr>
        <p:txBody>
          <a:bodyPr wrap="square" lIns="0" tIns="0" rIns="0" bIns="0" rtlCol="0" anchor="t"/>
          <a:lstStyle/>
          <a:p>
            <a:pPr indent="0" marL="0">
              <a:buNone/>
            </a:pPr>
            <a:r>
              <a:rPr lang="en-US" sz="1300" dirty="0">
                <a:solidFill>
                  <a:srgbClr val="8FB4C7"/>
                </a:solidFill>
                <a:latin typeface="Calibri" pitchFamily="34" charset="0"/>
                <a:ea typeface="Calibri" pitchFamily="34" charset="-122"/>
                <a:cs typeface="Calibri" pitchFamily="34" charset="-120"/>
              </a:rPr>
              <a:t>SWUA helps households:</a:t>
            </a:r>
            <a:endParaRPr lang="en-US" sz="1300" dirty="0"/>
          </a:p>
        </p:txBody>
      </p:sp>
      <p:pic>
        <p:nvPicPr>
          <p:cNvPr id="9" name="Image 0" descr="preencoded.png">    </p:cNvPr>
          <p:cNvPicPr>
            <a:picLocks noChangeAspect="1"/>
          </p:cNvPicPr>
          <p:nvPr/>
        </p:nvPicPr>
        <p:blipFill>
          <a:blip r:embed="rId1"/>
          <a:stretch>
            <a:fillRect/>
          </a:stretch>
        </p:blipFill>
        <p:spPr>
          <a:xfrm>
            <a:off x="868680" y="4242816"/>
            <a:ext cx="182880" cy="182880"/>
          </a:xfrm>
          <a:prstGeom prst="rect">
            <a:avLst/>
          </a:prstGeom>
        </p:spPr>
      </p:pic>
      <p:sp>
        <p:nvSpPr>
          <p:cNvPr id="10" name="Text 7"/>
          <p:cNvSpPr txBox="1"/>
          <p:nvPr/>
        </p:nvSpPr>
        <p:spPr>
          <a:xfrm>
            <a:off x="1188720" y="4206240"/>
            <a:ext cx="3657600" cy="274320"/>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Understand their consumption</a:t>
            </a:r>
            <a:endParaRPr lang="en-US" sz="1400" dirty="0"/>
          </a:p>
        </p:txBody>
      </p:sp>
      <p:pic>
        <p:nvPicPr>
          <p:cNvPr id="11" name="Image 1" descr="preencoded.png">    </p:cNvPr>
          <p:cNvPicPr>
            <a:picLocks noChangeAspect="1"/>
          </p:cNvPicPr>
          <p:nvPr/>
        </p:nvPicPr>
        <p:blipFill>
          <a:blip r:embed="rId2"/>
          <a:stretch>
            <a:fillRect/>
          </a:stretch>
        </p:blipFill>
        <p:spPr>
          <a:xfrm>
            <a:off x="868680" y="4608576"/>
            <a:ext cx="182880" cy="182880"/>
          </a:xfrm>
          <a:prstGeom prst="rect">
            <a:avLst/>
          </a:prstGeom>
        </p:spPr>
      </p:pic>
      <p:sp>
        <p:nvSpPr>
          <p:cNvPr id="12" name="Text 8"/>
          <p:cNvSpPr txBox="1"/>
          <p:nvPr/>
        </p:nvSpPr>
        <p:spPr>
          <a:xfrm>
            <a:off x="1188720" y="4572000"/>
            <a:ext cx="3657600" cy="274320"/>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Identify unnecessary usage</a:t>
            </a:r>
            <a:endParaRPr lang="en-US" sz="1400" dirty="0"/>
          </a:p>
        </p:txBody>
      </p:sp>
      <p:pic>
        <p:nvPicPr>
          <p:cNvPr id="13" name="Image 2" descr="preencoded.png">    </p:cNvPr>
          <p:cNvPicPr>
            <a:picLocks noChangeAspect="1"/>
          </p:cNvPicPr>
          <p:nvPr/>
        </p:nvPicPr>
        <p:blipFill>
          <a:blip r:embed="rId3"/>
          <a:stretch>
            <a:fillRect/>
          </a:stretch>
        </p:blipFill>
        <p:spPr>
          <a:xfrm>
            <a:off x="868680" y="4974336"/>
            <a:ext cx="182880" cy="182880"/>
          </a:xfrm>
          <a:prstGeom prst="rect">
            <a:avLst/>
          </a:prstGeom>
        </p:spPr>
      </p:pic>
      <p:sp>
        <p:nvSpPr>
          <p:cNvPr id="14" name="Text 9"/>
          <p:cNvSpPr txBox="1"/>
          <p:nvPr/>
        </p:nvSpPr>
        <p:spPr>
          <a:xfrm>
            <a:off x="1188720" y="4937760"/>
            <a:ext cx="3657600" cy="274320"/>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Detect potential wastage</a:t>
            </a:r>
            <a:endParaRPr lang="en-US" sz="1400" dirty="0"/>
          </a:p>
        </p:txBody>
      </p:sp>
      <p:pic>
        <p:nvPicPr>
          <p:cNvPr id="15" name="Image 3" descr="preencoded.png">    </p:cNvPr>
          <p:cNvPicPr>
            <a:picLocks noChangeAspect="1"/>
          </p:cNvPicPr>
          <p:nvPr/>
        </p:nvPicPr>
        <p:blipFill>
          <a:blip r:embed="rId4"/>
          <a:stretch>
            <a:fillRect/>
          </a:stretch>
        </p:blipFill>
        <p:spPr>
          <a:xfrm>
            <a:off x="868680" y="5340096"/>
            <a:ext cx="182880" cy="182880"/>
          </a:xfrm>
          <a:prstGeom prst="rect">
            <a:avLst/>
          </a:prstGeom>
        </p:spPr>
      </p:pic>
      <p:sp>
        <p:nvSpPr>
          <p:cNvPr id="16" name="Text 10"/>
          <p:cNvSpPr txBox="1"/>
          <p:nvPr/>
        </p:nvSpPr>
        <p:spPr>
          <a:xfrm>
            <a:off x="1188720" y="5303520"/>
            <a:ext cx="3657600" cy="274320"/>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Learn conservation techniques</a:t>
            </a:r>
            <a:endParaRPr lang="en-US" sz="1400" dirty="0"/>
          </a:p>
        </p:txBody>
      </p:sp>
      <p:pic>
        <p:nvPicPr>
          <p:cNvPr id="17" name="Image 4" descr="preencoded.png">    </p:cNvPr>
          <p:cNvPicPr>
            <a:picLocks noChangeAspect="1"/>
          </p:cNvPicPr>
          <p:nvPr/>
        </p:nvPicPr>
        <p:blipFill>
          <a:blip r:embed="rId5"/>
          <a:stretch>
            <a:fillRect/>
          </a:stretch>
        </p:blipFill>
        <p:spPr>
          <a:xfrm>
            <a:off x="868680" y="5705856"/>
            <a:ext cx="182880" cy="182880"/>
          </a:xfrm>
          <a:prstGeom prst="rect">
            <a:avLst/>
          </a:prstGeom>
        </p:spPr>
      </p:pic>
      <p:sp>
        <p:nvSpPr>
          <p:cNvPr id="18" name="Text 11"/>
          <p:cNvSpPr txBox="1"/>
          <p:nvPr/>
        </p:nvSpPr>
        <p:spPr>
          <a:xfrm>
            <a:off x="1188720" y="5669280"/>
            <a:ext cx="3657600" cy="274320"/>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Make better daily decisions</a:t>
            </a:r>
            <a:endParaRPr lang="en-US" sz="1400" dirty="0"/>
          </a:p>
        </p:txBody>
      </p:sp>
      <p:sp>
        <p:nvSpPr>
          <p:cNvPr id="19" name="Text 12"/>
          <p:cNvSpPr txBox="1"/>
          <p:nvPr/>
        </p:nvSpPr>
        <p:spPr>
          <a:xfrm>
            <a:off x="5486400" y="1508760"/>
            <a:ext cx="4572000" cy="365760"/>
          </a:xfrm>
          <a:prstGeom prst="rect">
            <a:avLst/>
          </a:prstGeom>
          <a:noFill/>
          <a:ln/>
        </p:spPr>
        <p:txBody>
          <a:bodyPr wrap="square" lIns="0" tIns="0" rIns="0" bIns="0" rtlCol="0" anchor="t"/>
          <a:lstStyle/>
          <a:p>
            <a:pPr indent="0" marL="0">
              <a:buNone/>
            </a:pPr>
            <a:r>
              <a:rPr lang="en-US" sz="2000" b="1" dirty="0">
                <a:solidFill>
                  <a:srgbClr val="0B2239"/>
                </a:solidFill>
                <a:latin typeface="Cambria" pitchFamily="34" charset="0"/>
                <a:ea typeface="Cambria" pitchFamily="34" charset="-122"/>
                <a:cs typeface="Cambria" pitchFamily="34" charset="-120"/>
              </a:rPr>
              <a:t>Who it is for</a:t>
            </a:r>
            <a:endParaRPr lang="en-US" sz="2000" dirty="0"/>
          </a:p>
        </p:txBody>
      </p:sp>
      <p:sp>
        <p:nvSpPr>
          <p:cNvPr id="20" name="Shape 13"/>
          <p:cNvSpPr/>
          <p:nvPr/>
        </p:nvSpPr>
        <p:spPr>
          <a:xfrm>
            <a:off x="5486400" y="2011680"/>
            <a:ext cx="2962656" cy="1600200"/>
          </a:xfrm>
          <a:prstGeom prst="roundRect">
            <a:avLst>
              <a:gd name="adj" fmla="val 6857"/>
            </a:avLst>
          </a:prstGeom>
          <a:solidFill>
            <a:srgbClr val="FFFFFF"/>
          </a:solidFill>
          <a:ln w="9525">
            <a:solidFill>
              <a:srgbClr val="D5E5EE"/>
            </a:solidFill>
            <a:prstDash val="solid"/>
          </a:ln>
          <a:effectLst>
            <a:outerShdw sx="100000" sy="100000" kx="0" ky="0" algn="bl" rotWithShape="0" blurRad="101600" dist="25400" dir="5400000">
              <a:srgbClr val="0B2239">
                <a:alpha val="12000"/>
              </a:srgbClr>
            </a:outerShdw>
          </a:effectLst>
        </p:spPr>
      </p:sp>
      <p:sp>
        <p:nvSpPr>
          <p:cNvPr id="21" name="Shape 14"/>
          <p:cNvSpPr/>
          <p:nvPr/>
        </p:nvSpPr>
        <p:spPr>
          <a:xfrm>
            <a:off x="5715000" y="2240280"/>
            <a:ext cx="502920" cy="502920"/>
          </a:xfrm>
          <a:prstGeom prst="ellipse">
            <a:avLst/>
          </a:prstGeom>
          <a:solidFill>
            <a:srgbClr val="0B6E99"/>
          </a:solidFill>
          <a:ln w="12700">
            <a:solidFill>
              <a:srgbClr val="0B6E99"/>
            </a:solidFill>
            <a:prstDash val="solid"/>
          </a:ln>
        </p:spPr>
      </p:sp>
      <p:pic>
        <p:nvPicPr>
          <p:cNvPr id="22" name="Image 5" descr="preencoded.png">    </p:cNvPr>
          <p:cNvPicPr>
            <a:picLocks noChangeAspect="1"/>
          </p:cNvPicPr>
          <p:nvPr/>
        </p:nvPicPr>
        <p:blipFill>
          <a:blip r:embed="rId6"/>
          <a:stretch>
            <a:fillRect/>
          </a:stretch>
        </p:blipFill>
        <p:spPr>
          <a:xfrm>
            <a:off x="5840730" y="2366010"/>
            <a:ext cx="251460" cy="251460"/>
          </a:xfrm>
          <a:prstGeom prst="rect">
            <a:avLst/>
          </a:prstGeom>
        </p:spPr>
      </p:pic>
      <p:sp>
        <p:nvSpPr>
          <p:cNvPr id="23" name="Text 15"/>
          <p:cNvSpPr txBox="1"/>
          <p:nvPr/>
        </p:nvSpPr>
        <p:spPr>
          <a:xfrm>
            <a:off x="5715000" y="2852928"/>
            <a:ext cx="2560320" cy="274320"/>
          </a:xfrm>
          <a:prstGeom prst="rect">
            <a:avLst/>
          </a:prstGeom>
          <a:noFill/>
          <a:ln/>
        </p:spPr>
        <p:txBody>
          <a:bodyPr wrap="square" lIns="0" tIns="0" rIns="0" bIns="0" rtlCol="0" anchor="t"/>
          <a:lstStyle/>
          <a:p>
            <a:pPr indent="0" marL="0">
              <a:buNone/>
            </a:pPr>
            <a:r>
              <a:rPr lang="en-US" sz="1600" b="1" dirty="0">
                <a:solidFill>
                  <a:srgbClr val="0B2239"/>
                </a:solidFill>
                <a:latin typeface="Calibri" pitchFamily="34" charset="0"/>
                <a:ea typeface="Calibri" pitchFamily="34" charset="-122"/>
                <a:cs typeface="Calibri" pitchFamily="34" charset="-120"/>
              </a:rPr>
              <a:t>Households</a:t>
            </a:r>
            <a:endParaRPr lang="en-US" sz="1600" dirty="0"/>
          </a:p>
        </p:txBody>
      </p:sp>
      <p:sp>
        <p:nvSpPr>
          <p:cNvPr id="24" name="Text 16"/>
          <p:cNvSpPr txBox="1"/>
          <p:nvPr/>
        </p:nvSpPr>
        <p:spPr>
          <a:xfrm>
            <a:off x="5715000" y="3108960"/>
            <a:ext cx="2560320" cy="457200"/>
          </a:xfrm>
          <a:prstGeom prst="rect">
            <a:avLst/>
          </a:prstGeom>
          <a:noFill/>
          <a:ln/>
        </p:spPr>
        <p:txBody>
          <a:bodyPr wrap="square" lIns="0" tIns="0" rIns="0" bIns="0" rtlCol="0" anchor="t"/>
          <a:lstStyle/>
          <a:p>
            <a:pPr indent="0" marL="0">
              <a:buNone/>
            </a:pPr>
            <a:r>
              <a:rPr lang="en-US" sz="1200" dirty="0">
                <a:solidFill>
                  <a:srgbClr val="5B7185"/>
                </a:solidFill>
                <a:latin typeface="Calibri" pitchFamily="34" charset="0"/>
                <a:ea typeface="Calibri" pitchFamily="34" charset="-122"/>
                <a:cs typeface="Calibri" pitchFamily="34" charset="-120"/>
              </a:rPr>
              <a:t>Families who want to understand and reduce daily water use</a:t>
            </a:r>
            <a:endParaRPr lang="en-US" sz="1200" dirty="0"/>
          </a:p>
        </p:txBody>
      </p:sp>
      <p:sp>
        <p:nvSpPr>
          <p:cNvPr id="25" name="Shape 17"/>
          <p:cNvSpPr/>
          <p:nvPr/>
        </p:nvSpPr>
        <p:spPr>
          <a:xfrm>
            <a:off x="8677656" y="2011680"/>
            <a:ext cx="2962656" cy="1600200"/>
          </a:xfrm>
          <a:prstGeom prst="roundRect">
            <a:avLst>
              <a:gd name="adj" fmla="val 6857"/>
            </a:avLst>
          </a:prstGeom>
          <a:solidFill>
            <a:srgbClr val="FFFFFF"/>
          </a:solidFill>
          <a:ln w="9525">
            <a:solidFill>
              <a:srgbClr val="D5E5EE"/>
            </a:solidFill>
            <a:prstDash val="solid"/>
          </a:ln>
          <a:effectLst>
            <a:outerShdw sx="100000" sy="100000" kx="0" ky="0" algn="bl" rotWithShape="0" blurRad="101600" dist="25400" dir="5400000">
              <a:srgbClr val="0B2239">
                <a:alpha val="12000"/>
              </a:srgbClr>
            </a:outerShdw>
          </a:effectLst>
        </p:spPr>
      </p:sp>
      <p:sp>
        <p:nvSpPr>
          <p:cNvPr id="26" name="Shape 18"/>
          <p:cNvSpPr/>
          <p:nvPr/>
        </p:nvSpPr>
        <p:spPr>
          <a:xfrm>
            <a:off x="8906256" y="2240280"/>
            <a:ext cx="502920" cy="502920"/>
          </a:xfrm>
          <a:prstGeom prst="ellipse">
            <a:avLst/>
          </a:prstGeom>
          <a:solidFill>
            <a:srgbClr val="0FB5A6"/>
          </a:solidFill>
          <a:ln w="12700">
            <a:solidFill>
              <a:srgbClr val="0FB5A6"/>
            </a:solidFill>
            <a:prstDash val="solid"/>
          </a:ln>
        </p:spPr>
      </p:sp>
      <p:pic>
        <p:nvPicPr>
          <p:cNvPr id="27" name="Image 6" descr="preencoded.png">    </p:cNvPr>
          <p:cNvPicPr>
            <a:picLocks noChangeAspect="1"/>
          </p:cNvPicPr>
          <p:nvPr/>
        </p:nvPicPr>
        <p:blipFill>
          <a:blip r:embed="rId7"/>
          <a:stretch>
            <a:fillRect/>
          </a:stretch>
        </p:blipFill>
        <p:spPr>
          <a:xfrm>
            <a:off x="9031986" y="2366010"/>
            <a:ext cx="251460" cy="251460"/>
          </a:xfrm>
          <a:prstGeom prst="rect">
            <a:avLst/>
          </a:prstGeom>
        </p:spPr>
      </p:pic>
      <p:sp>
        <p:nvSpPr>
          <p:cNvPr id="28" name="Text 19"/>
          <p:cNvSpPr txBox="1"/>
          <p:nvPr/>
        </p:nvSpPr>
        <p:spPr>
          <a:xfrm>
            <a:off x="8906256" y="2852928"/>
            <a:ext cx="2560320" cy="274320"/>
          </a:xfrm>
          <a:prstGeom prst="rect">
            <a:avLst/>
          </a:prstGeom>
          <a:noFill/>
          <a:ln/>
        </p:spPr>
        <p:txBody>
          <a:bodyPr wrap="square" lIns="0" tIns="0" rIns="0" bIns="0" rtlCol="0" anchor="t"/>
          <a:lstStyle/>
          <a:p>
            <a:pPr indent="0" marL="0">
              <a:buNone/>
            </a:pPr>
            <a:r>
              <a:rPr lang="en-US" sz="1600" b="1" dirty="0">
                <a:solidFill>
                  <a:srgbClr val="0B2239"/>
                </a:solidFill>
                <a:latin typeface="Calibri" pitchFamily="34" charset="0"/>
                <a:ea typeface="Calibri" pitchFamily="34" charset="-122"/>
                <a:cs typeface="Calibri" pitchFamily="34" charset="-120"/>
              </a:rPr>
              <a:t>Individuals</a:t>
            </a:r>
            <a:endParaRPr lang="en-US" sz="1600" dirty="0"/>
          </a:p>
        </p:txBody>
      </p:sp>
      <p:sp>
        <p:nvSpPr>
          <p:cNvPr id="29" name="Text 20"/>
          <p:cNvSpPr txBox="1"/>
          <p:nvPr/>
        </p:nvSpPr>
        <p:spPr>
          <a:xfrm>
            <a:off x="8906256" y="3108960"/>
            <a:ext cx="2560320" cy="457200"/>
          </a:xfrm>
          <a:prstGeom prst="rect">
            <a:avLst/>
          </a:prstGeom>
          <a:noFill/>
          <a:ln/>
        </p:spPr>
        <p:txBody>
          <a:bodyPr wrap="square" lIns="0" tIns="0" rIns="0" bIns="0" rtlCol="0" anchor="t"/>
          <a:lstStyle/>
          <a:p>
            <a:pPr indent="0" marL="0">
              <a:buNone/>
            </a:pPr>
            <a:r>
              <a:rPr lang="en-US" sz="1200" dirty="0">
                <a:solidFill>
                  <a:srgbClr val="5B7185"/>
                </a:solidFill>
                <a:latin typeface="Calibri" pitchFamily="34" charset="0"/>
                <a:ea typeface="Calibri" pitchFamily="34" charset="-122"/>
                <a:cs typeface="Calibri" pitchFamily="34" charset="-120"/>
              </a:rPr>
              <a:t>People monitoring their personal water-use habits</a:t>
            </a:r>
            <a:endParaRPr lang="en-US" sz="1200" dirty="0"/>
          </a:p>
        </p:txBody>
      </p:sp>
      <p:sp>
        <p:nvSpPr>
          <p:cNvPr id="30" name="Shape 21"/>
          <p:cNvSpPr/>
          <p:nvPr/>
        </p:nvSpPr>
        <p:spPr>
          <a:xfrm>
            <a:off x="5486400" y="3794760"/>
            <a:ext cx="2962656" cy="1600200"/>
          </a:xfrm>
          <a:prstGeom prst="roundRect">
            <a:avLst>
              <a:gd name="adj" fmla="val 6857"/>
            </a:avLst>
          </a:prstGeom>
          <a:solidFill>
            <a:srgbClr val="FFFFFF"/>
          </a:solidFill>
          <a:ln w="9525">
            <a:solidFill>
              <a:srgbClr val="D5E5EE"/>
            </a:solidFill>
            <a:prstDash val="solid"/>
          </a:ln>
          <a:effectLst>
            <a:outerShdw sx="100000" sy="100000" kx="0" ky="0" algn="bl" rotWithShape="0" blurRad="101600" dist="25400" dir="5400000">
              <a:srgbClr val="0B2239">
                <a:alpha val="12000"/>
              </a:srgbClr>
            </a:outerShdw>
          </a:effectLst>
        </p:spPr>
      </p:sp>
      <p:sp>
        <p:nvSpPr>
          <p:cNvPr id="31" name="Shape 22"/>
          <p:cNvSpPr/>
          <p:nvPr/>
        </p:nvSpPr>
        <p:spPr>
          <a:xfrm>
            <a:off x="5715000" y="4023360"/>
            <a:ext cx="502920" cy="502920"/>
          </a:xfrm>
          <a:prstGeom prst="ellipse">
            <a:avLst/>
          </a:prstGeom>
          <a:solidFill>
            <a:srgbClr val="0B6E99"/>
          </a:solidFill>
          <a:ln w="12700">
            <a:solidFill>
              <a:srgbClr val="0B6E99"/>
            </a:solidFill>
            <a:prstDash val="solid"/>
          </a:ln>
        </p:spPr>
      </p:sp>
      <p:pic>
        <p:nvPicPr>
          <p:cNvPr id="32" name="Image 7" descr="preencoded.png">    </p:cNvPr>
          <p:cNvPicPr>
            <a:picLocks noChangeAspect="1"/>
          </p:cNvPicPr>
          <p:nvPr/>
        </p:nvPicPr>
        <p:blipFill>
          <a:blip r:embed="rId8"/>
          <a:stretch>
            <a:fillRect/>
          </a:stretch>
        </p:blipFill>
        <p:spPr>
          <a:xfrm>
            <a:off x="5840730" y="4149090"/>
            <a:ext cx="251460" cy="251460"/>
          </a:xfrm>
          <a:prstGeom prst="rect">
            <a:avLst/>
          </a:prstGeom>
        </p:spPr>
      </p:pic>
      <p:sp>
        <p:nvSpPr>
          <p:cNvPr id="33" name="Text 23"/>
          <p:cNvSpPr txBox="1"/>
          <p:nvPr/>
        </p:nvSpPr>
        <p:spPr>
          <a:xfrm>
            <a:off x="5715000" y="4636008"/>
            <a:ext cx="2560320" cy="274320"/>
          </a:xfrm>
          <a:prstGeom prst="rect">
            <a:avLst/>
          </a:prstGeom>
          <a:noFill/>
          <a:ln/>
        </p:spPr>
        <p:txBody>
          <a:bodyPr wrap="square" lIns="0" tIns="0" rIns="0" bIns="0" rtlCol="0" anchor="t"/>
          <a:lstStyle/>
          <a:p>
            <a:pPr indent="0" marL="0">
              <a:buNone/>
            </a:pPr>
            <a:r>
              <a:rPr lang="en-US" sz="1600" b="1" dirty="0">
                <a:solidFill>
                  <a:srgbClr val="0B2239"/>
                </a:solidFill>
                <a:latin typeface="Calibri" pitchFamily="34" charset="0"/>
                <a:ea typeface="Calibri" pitchFamily="34" charset="-122"/>
                <a:cs typeface="Calibri" pitchFamily="34" charset="-120"/>
              </a:rPr>
              <a:t>Eco-conscious users</a:t>
            </a:r>
            <a:endParaRPr lang="en-US" sz="1600" dirty="0"/>
          </a:p>
        </p:txBody>
      </p:sp>
      <p:sp>
        <p:nvSpPr>
          <p:cNvPr id="34" name="Text 24"/>
          <p:cNvSpPr txBox="1"/>
          <p:nvPr/>
        </p:nvSpPr>
        <p:spPr>
          <a:xfrm>
            <a:off x="5715000" y="4892040"/>
            <a:ext cx="2560320" cy="457200"/>
          </a:xfrm>
          <a:prstGeom prst="rect">
            <a:avLst/>
          </a:prstGeom>
          <a:noFill/>
          <a:ln/>
        </p:spPr>
        <p:txBody>
          <a:bodyPr wrap="square" lIns="0" tIns="0" rIns="0" bIns="0" rtlCol="0" anchor="t"/>
          <a:lstStyle/>
          <a:p>
            <a:pPr indent="0" marL="0">
              <a:buNone/>
            </a:pPr>
            <a:r>
              <a:rPr lang="en-US" sz="1200" dirty="0">
                <a:solidFill>
                  <a:srgbClr val="5B7185"/>
                </a:solidFill>
                <a:latin typeface="Calibri" pitchFamily="34" charset="0"/>
                <a:ea typeface="Calibri" pitchFamily="34" charset="-122"/>
                <a:cs typeface="Calibri" pitchFamily="34" charset="-120"/>
              </a:rPr>
              <a:t>Users cutting their footprint and utility costs</a:t>
            </a:r>
            <a:endParaRPr lang="en-US" sz="1200" dirty="0"/>
          </a:p>
        </p:txBody>
      </p:sp>
      <p:sp>
        <p:nvSpPr>
          <p:cNvPr id="35" name="Shape 25"/>
          <p:cNvSpPr/>
          <p:nvPr/>
        </p:nvSpPr>
        <p:spPr>
          <a:xfrm>
            <a:off x="8677656" y="3794760"/>
            <a:ext cx="2962656" cy="1600200"/>
          </a:xfrm>
          <a:prstGeom prst="roundRect">
            <a:avLst>
              <a:gd name="adj" fmla="val 6857"/>
            </a:avLst>
          </a:prstGeom>
          <a:solidFill>
            <a:srgbClr val="FFFFFF"/>
          </a:solidFill>
          <a:ln w="9525">
            <a:solidFill>
              <a:srgbClr val="D5E5EE"/>
            </a:solidFill>
            <a:prstDash val="solid"/>
          </a:ln>
          <a:effectLst>
            <a:outerShdw sx="100000" sy="100000" kx="0" ky="0" algn="bl" rotWithShape="0" blurRad="101600" dist="25400" dir="5400000">
              <a:srgbClr val="0B2239">
                <a:alpha val="12000"/>
              </a:srgbClr>
            </a:outerShdw>
          </a:effectLst>
        </p:spPr>
      </p:sp>
      <p:sp>
        <p:nvSpPr>
          <p:cNvPr id="36" name="Shape 26"/>
          <p:cNvSpPr/>
          <p:nvPr/>
        </p:nvSpPr>
        <p:spPr>
          <a:xfrm>
            <a:off x="8906256" y="4023360"/>
            <a:ext cx="502920" cy="502920"/>
          </a:xfrm>
          <a:prstGeom prst="ellipse">
            <a:avLst/>
          </a:prstGeom>
          <a:solidFill>
            <a:srgbClr val="0FB5A6"/>
          </a:solidFill>
          <a:ln w="12700">
            <a:solidFill>
              <a:srgbClr val="0FB5A6"/>
            </a:solidFill>
            <a:prstDash val="solid"/>
          </a:ln>
        </p:spPr>
      </p:sp>
      <p:pic>
        <p:nvPicPr>
          <p:cNvPr id="37" name="Image 8" descr="preencoded.png">    </p:cNvPr>
          <p:cNvPicPr>
            <a:picLocks noChangeAspect="1"/>
          </p:cNvPicPr>
          <p:nvPr/>
        </p:nvPicPr>
        <p:blipFill>
          <a:blip r:embed="rId9"/>
          <a:stretch>
            <a:fillRect/>
          </a:stretch>
        </p:blipFill>
        <p:spPr>
          <a:xfrm>
            <a:off x="9031986" y="4149090"/>
            <a:ext cx="251460" cy="251460"/>
          </a:xfrm>
          <a:prstGeom prst="rect">
            <a:avLst/>
          </a:prstGeom>
        </p:spPr>
      </p:pic>
      <p:sp>
        <p:nvSpPr>
          <p:cNvPr id="38" name="Text 27"/>
          <p:cNvSpPr txBox="1"/>
          <p:nvPr/>
        </p:nvSpPr>
        <p:spPr>
          <a:xfrm>
            <a:off x="8906256" y="4636008"/>
            <a:ext cx="2560320" cy="274320"/>
          </a:xfrm>
          <a:prstGeom prst="rect">
            <a:avLst/>
          </a:prstGeom>
          <a:noFill/>
          <a:ln/>
        </p:spPr>
        <p:txBody>
          <a:bodyPr wrap="square" lIns="0" tIns="0" rIns="0" bIns="0" rtlCol="0" anchor="t"/>
          <a:lstStyle/>
          <a:p>
            <a:pPr indent="0" marL="0">
              <a:buNone/>
            </a:pPr>
            <a:r>
              <a:rPr lang="en-US" sz="1600" b="1" dirty="0">
                <a:solidFill>
                  <a:srgbClr val="0B2239"/>
                </a:solidFill>
                <a:latin typeface="Calibri" pitchFamily="34" charset="0"/>
                <a:ea typeface="Calibri" pitchFamily="34" charset="-122"/>
                <a:cs typeface="Calibri" pitchFamily="34" charset="-120"/>
              </a:rPr>
              <a:t>Communities</a:t>
            </a:r>
            <a:endParaRPr lang="en-US" sz="1600" dirty="0"/>
          </a:p>
        </p:txBody>
      </p:sp>
      <p:sp>
        <p:nvSpPr>
          <p:cNvPr id="39" name="Text 28"/>
          <p:cNvSpPr txBox="1"/>
          <p:nvPr/>
        </p:nvSpPr>
        <p:spPr>
          <a:xfrm>
            <a:off x="8906256" y="4892040"/>
            <a:ext cx="2560320" cy="457200"/>
          </a:xfrm>
          <a:prstGeom prst="rect">
            <a:avLst/>
          </a:prstGeom>
          <a:noFill/>
          <a:ln/>
        </p:spPr>
        <p:txBody>
          <a:bodyPr wrap="square" lIns="0" tIns="0" rIns="0" bIns="0" rtlCol="0" anchor="t"/>
          <a:lstStyle/>
          <a:p>
            <a:pPr indent="0" marL="0">
              <a:buNone/>
            </a:pPr>
            <a:r>
              <a:rPr lang="en-US" sz="1200" dirty="0">
                <a:solidFill>
                  <a:srgbClr val="5B7185"/>
                </a:solidFill>
                <a:latin typeface="Calibri" pitchFamily="34" charset="0"/>
                <a:ea typeface="Calibri" pitchFamily="34" charset="-122"/>
                <a:cs typeface="Calibri" pitchFamily="34" charset="-120"/>
              </a:rPr>
              <a:t>Groups promoting water-conservation awareness</a:t>
            </a:r>
            <a:endParaRPr lang="en-US" sz="1200" dirty="0"/>
          </a:p>
        </p:txBody>
      </p:sp>
      <p:sp>
        <p:nvSpPr>
          <p:cNvPr id="40" name="Shape 29"/>
          <p:cNvSpPr/>
          <p:nvPr/>
        </p:nvSpPr>
        <p:spPr>
          <a:xfrm>
            <a:off x="5486400" y="5577840"/>
            <a:ext cx="6153912" cy="594360"/>
          </a:xfrm>
          <a:prstGeom prst="roundRect">
            <a:avLst>
              <a:gd name="adj" fmla="val 18462"/>
            </a:avLst>
          </a:prstGeom>
          <a:solidFill>
            <a:srgbClr val="E3F1F7"/>
          </a:solidFill>
          <a:ln w="9525">
            <a:solidFill>
              <a:srgbClr val="E3F1F7"/>
            </a:solidFill>
            <a:prstDash val="solid"/>
          </a:ln>
        </p:spPr>
      </p:sp>
      <p:sp>
        <p:nvSpPr>
          <p:cNvPr id="41" name="Text 30"/>
          <p:cNvSpPr txBox="1"/>
          <p:nvPr/>
        </p:nvSpPr>
        <p:spPr>
          <a:xfrm>
            <a:off x="5715000" y="5577840"/>
            <a:ext cx="5760720" cy="594360"/>
          </a:xfrm>
          <a:prstGeom prst="rect">
            <a:avLst/>
          </a:prstGeom>
          <a:noFill/>
          <a:ln/>
        </p:spPr>
        <p:txBody>
          <a:bodyPr wrap="square" lIns="0" tIns="0" rIns="0" bIns="0" rtlCol="0" anchor="ctr"/>
          <a:lstStyle/>
          <a:p>
            <a:pPr indent="0" marL="0">
              <a:buNone/>
            </a:pPr>
            <a:r>
              <a:rPr lang="en-US" sz="1300" b="1" dirty="0">
                <a:solidFill>
                  <a:srgbClr val="0B6E99"/>
                </a:solidFill>
                <a:latin typeface="Calibri" pitchFamily="34" charset="0"/>
                <a:ea typeface="Calibri" pitchFamily="34" charset="-122"/>
                <a:cs typeface="Calibri" pitchFamily="34" charset="-120"/>
              </a:rPr>
              <a:t>Scope: </a:t>
            </a:r>
            <a:pPr indent="0" marL="0">
              <a:buNone/>
            </a:pPr>
            <a:r>
              <a:rPr lang="en-US" sz="1300" dirty="0">
                <a:solidFill>
                  <a:srgbClr val="0B2239"/>
                </a:solidFill>
                <a:latin typeface="Calibri" pitchFamily="34" charset="0"/>
                <a:ea typeface="Calibri" pitchFamily="34" charset="-122"/>
                <a:cs typeface="Calibri" pitchFamily="34" charset="-120"/>
              </a:rPr>
              <a:t>household demand-side conservation, not municipal or agricultural water management.</a:t>
            </a:r>
            <a:endParaRPr lang="en-US" sz="1300" dirty="0"/>
          </a:p>
        </p:txBody>
      </p:sp>
      <p:sp>
        <p:nvSpPr>
          <p:cNvPr id="42" name="Text 31"/>
          <p:cNvSpPr txBox="1"/>
          <p:nvPr/>
        </p:nvSpPr>
        <p:spPr>
          <a:xfrm>
            <a:off x="548640" y="6510528"/>
            <a:ext cx="5486400" cy="228600"/>
          </a:xfrm>
          <a:prstGeom prst="rect">
            <a:avLst/>
          </a:prstGeom>
          <a:noFill/>
          <a:ln/>
        </p:spPr>
        <p:txBody>
          <a:bodyPr wrap="square" lIns="0" tIns="0" rIns="0" bIns="0" rtlCol="0" anchor="t"/>
          <a:lstStyle/>
          <a:p>
            <a:pPr indent="0" marL="0">
              <a:buNone/>
            </a:pPr>
            <a:r>
              <a:rPr lang="en-US" sz="1000" dirty="0">
                <a:solidFill>
                  <a:srgbClr val="5B7185"/>
                </a:solidFill>
                <a:latin typeface="Calibri" pitchFamily="34" charset="0"/>
                <a:ea typeface="Calibri" pitchFamily="34" charset="-122"/>
                <a:cs typeface="Calibri" pitchFamily="34" charset="-120"/>
              </a:rPr>
              <a:t>Smart Water Usage Advisor  |  SDG 6.4</a:t>
            </a:r>
            <a:endParaRPr lang="en-US" sz="1000" dirty="0"/>
          </a:p>
        </p:txBody>
      </p:sp>
      <p:sp>
        <p:nvSpPr>
          <p:cNvPr id="43" name="Text 32"/>
          <p:cNvSpPr txBox="1"/>
          <p:nvPr/>
        </p:nvSpPr>
        <p:spPr>
          <a:xfrm>
            <a:off x="10725912" y="6510528"/>
            <a:ext cx="914400" cy="228600"/>
          </a:xfrm>
          <a:prstGeom prst="rect">
            <a:avLst/>
          </a:prstGeom>
          <a:noFill/>
          <a:ln/>
        </p:spPr>
        <p:txBody>
          <a:bodyPr wrap="square" lIns="0" tIns="0" rIns="0" bIns="0" rtlCol="0" anchor="t"/>
          <a:lstStyle/>
          <a:p>
            <a:pPr algn="r" indent="0" marL="0">
              <a:buNone/>
            </a:pPr>
            <a:r>
              <a:rPr lang="en-US" sz="1000" dirty="0">
                <a:solidFill>
                  <a:srgbClr val="5B7185"/>
                </a:solidFill>
                <a:latin typeface="Calibri" pitchFamily="34" charset="0"/>
                <a:ea typeface="Calibri" pitchFamily="34" charset="-122"/>
                <a:cs typeface="Calibri" pitchFamily="34" charset="-120"/>
              </a:rPr>
              <a:t>3 / 9</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2F8FB"/>
        </a:solidFill>
      </p:bgPr>
    </p:bg>
    <p:spTree>
      <p:nvGrpSpPr>
        <p:cNvPr id="1" name=""/>
        <p:cNvGrpSpPr/>
        <p:nvPr/>
      </p:nvGrpSpPr>
      <p:grpSpPr>
        <a:xfrm>
          <a:off x="0" y="0"/>
          <a:ext cx="0" cy="0"/>
          <a:chOff x="0" y="0"/>
          <a:chExt cx="0" cy="0"/>
        </a:xfrm>
      </p:grpSpPr>
      <p:sp>
        <p:nvSpPr>
          <p:cNvPr id="2" name="Text 0"/>
          <p:cNvSpPr txBox="1"/>
          <p:nvPr/>
        </p:nvSpPr>
        <p:spPr>
          <a:xfrm>
            <a:off x="548640" y="365760"/>
            <a:ext cx="7315200" cy="274320"/>
          </a:xfrm>
          <a:prstGeom prst="rect">
            <a:avLst/>
          </a:prstGeom>
          <a:noFill/>
          <a:ln/>
        </p:spPr>
        <p:txBody>
          <a:bodyPr wrap="square" lIns="0" tIns="0" rIns="0" bIns="0" rtlCol="0" anchor="t"/>
          <a:lstStyle/>
          <a:p>
            <a:pPr indent="0" marL="0">
              <a:buNone/>
            </a:pPr>
            <a:r>
              <a:rPr lang="en-US" sz="1200" b="1" spc="300" kern="0" dirty="0">
                <a:solidFill>
                  <a:srgbClr val="0FB5A6"/>
                </a:solidFill>
                <a:latin typeface="Calibri" pitchFamily="34" charset="0"/>
                <a:ea typeface="Calibri" pitchFamily="34" charset="-122"/>
                <a:cs typeface="Calibri" pitchFamily="34" charset="-120"/>
              </a:rPr>
              <a:t>03  AI SOLUTION &amp; ARCHITECTURE</a:t>
            </a:r>
            <a:endParaRPr lang="en-US" sz="1200" dirty="0"/>
          </a:p>
        </p:txBody>
      </p:sp>
      <p:sp>
        <p:nvSpPr>
          <p:cNvPr id="3" name="Text 1"/>
          <p:cNvSpPr txBox="1"/>
          <p:nvPr/>
        </p:nvSpPr>
        <p:spPr>
          <a:xfrm>
            <a:off x="548640" y="658368"/>
            <a:ext cx="11064240" cy="640080"/>
          </a:xfrm>
          <a:prstGeom prst="rect">
            <a:avLst/>
          </a:prstGeom>
          <a:noFill/>
          <a:ln/>
        </p:spPr>
        <p:txBody>
          <a:bodyPr wrap="square" lIns="0" tIns="0" rIns="0" bIns="0" rtlCol="0" anchor="t"/>
          <a:lstStyle/>
          <a:p>
            <a:pPr indent="0" marL="0">
              <a:buNone/>
            </a:pPr>
            <a:r>
              <a:rPr lang="en-US" sz="3200" b="1" dirty="0">
                <a:solidFill>
                  <a:srgbClr val="0B2239"/>
                </a:solidFill>
                <a:latin typeface="Cambria" pitchFamily="34" charset="0"/>
                <a:ea typeface="Cambria" pitchFamily="34" charset="-122"/>
                <a:cs typeface="Cambria" pitchFamily="34" charset="-120"/>
              </a:rPr>
              <a:t>Deterministic Core + AI Layer</a:t>
            </a:r>
            <a:endParaRPr lang="en-US" sz="3200" dirty="0"/>
          </a:p>
        </p:txBody>
      </p:sp>
      <p:sp>
        <p:nvSpPr>
          <p:cNvPr id="4" name="Shape 2"/>
          <p:cNvSpPr/>
          <p:nvPr/>
        </p:nvSpPr>
        <p:spPr>
          <a:xfrm>
            <a:off x="548640" y="1508760"/>
            <a:ext cx="5394960" cy="2926080"/>
          </a:xfrm>
          <a:prstGeom prst="roundRect">
            <a:avLst>
              <a:gd name="adj" fmla="val 3750"/>
            </a:avLst>
          </a:prstGeom>
          <a:solidFill>
            <a:srgbClr val="FFFFFF"/>
          </a:solidFill>
          <a:ln w="9525">
            <a:solidFill>
              <a:srgbClr val="D5E5EE"/>
            </a:solidFill>
            <a:prstDash val="solid"/>
          </a:ln>
          <a:effectLst>
            <a:outerShdw sx="100000" sy="100000" kx="0" ky="0" algn="bl" rotWithShape="0" blurRad="101600" dist="25400" dir="5400000">
              <a:srgbClr val="0B2239">
                <a:alpha val="12000"/>
              </a:srgbClr>
            </a:outerShdw>
          </a:effectLst>
        </p:spPr>
      </p:sp>
      <p:sp>
        <p:nvSpPr>
          <p:cNvPr id="5" name="Shape 3"/>
          <p:cNvSpPr/>
          <p:nvPr/>
        </p:nvSpPr>
        <p:spPr>
          <a:xfrm>
            <a:off x="822960" y="1737360"/>
            <a:ext cx="502920" cy="502920"/>
          </a:xfrm>
          <a:prstGeom prst="ellipse">
            <a:avLst/>
          </a:prstGeom>
          <a:solidFill>
            <a:srgbClr val="0B6E99"/>
          </a:solidFill>
          <a:ln w="12700">
            <a:solidFill>
              <a:srgbClr val="0B6E99"/>
            </a:solidFill>
            <a:prstDash val="solid"/>
          </a:ln>
        </p:spPr>
      </p:sp>
      <p:pic>
        <p:nvPicPr>
          <p:cNvPr id="6" name="Image 0" descr="preencoded.png">    </p:cNvPr>
          <p:cNvPicPr>
            <a:picLocks noChangeAspect="1"/>
          </p:cNvPicPr>
          <p:nvPr/>
        </p:nvPicPr>
        <p:blipFill>
          <a:blip r:embed="rId1"/>
          <a:stretch>
            <a:fillRect/>
          </a:stretch>
        </p:blipFill>
        <p:spPr>
          <a:xfrm>
            <a:off x="948690" y="1863090"/>
            <a:ext cx="251460" cy="251460"/>
          </a:xfrm>
          <a:prstGeom prst="rect">
            <a:avLst/>
          </a:prstGeom>
        </p:spPr>
      </p:pic>
      <p:sp>
        <p:nvSpPr>
          <p:cNvPr id="7" name="Text 4"/>
          <p:cNvSpPr txBox="1"/>
          <p:nvPr/>
        </p:nvSpPr>
        <p:spPr>
          <a:xfrm>
            <a:off x="1463040" y="1810512"/>
            <a:ext cx="4114800" cy="365760"/>
          </a:xfrm>
          <a:prstGeom prst="rect">
            <a:avLst/>
          </a:prstGeom>
          <a:noFill/>
          <a:ln/>
        </p:spPr>
        <p:txBody>
          <a:bodyPr wrap="square" lIns="0" tIns="0" rIns="0" bIns="0" rtlCol="0" anchor="t"/>
          <a:lstStyle/>
          <a:p>
            <a:pPr indent="0" marL="0">
              <a:buNone/>
            </a:pPr>
            <a:r>
              <a:rPr lang="en-US" sz="2000" b="1" dirty="0">
                <a:solidFill>
                  <a:srgbClr val="0B2239"/>
                </a:solidFill>
                <a:latin typeface="Cambria" pitchFamily="34" charset="0"/>
                <a:ea typeface="Cambria" pitchFamily="34" charset="-122"/>
                <a:cs typeface="Cambria" pitchFamily="34" charset="-120"/>
              </a:rPr>
              <a:t>Deterministic layer</a:t>
            </a:r>
            <a:endParaRPr lang="en-US" sz="2000" dirty="0"/>
          </a:p>
        </p:txBody>
      </p:sp>
      <p:sp>
        <p:nvSpPr>
          <p:cNvPr id="8" name="Text 5"/>
          <p:cNvSpPr txBox="1"/>
          <p:nvPr/>
        </p:nvSpPr>
        <p:spPr>
          <a:xfrm>
            <a:off x="822960" y="2423160"/>
            <a:ext cx="4846320" cy="640080"/>
          </a:xfrm>
          <a:prstGeom prst="rect">
            <a:avLst/>
          </a:prstGeom>
          <a:noFill/>
          <a:ln/>
        </p:spPr>
        <p:txBody>
          <a:bodyPr wrap="square" lIns="0" tIns="0" rIns="0" bIns="0" rtlCol="0" anchor="t"/>
          <a:lstStyle/>
          <a:p>
            <a:pPr indent="0" marL="0">
              <a:buNone/>
            </a:pPr>
            <a:r>
              <a:rPr lang="en-US" sz="1350" dirty="0">
                <a:solidFill>
                  <a:srgbClr val="5B7185"/>
                </a:solidFill>
                <a:latin typeface="Calibri" pitchFamily="34" charset="0"/>
                <a:ea typeface="Calibri" pitchFamily="34" charset="-122"/>
                <a:cs typeface="Calibri" pitchFamily="34" charset="-120"/>
              </a:rPr>
              <a:t>Predefined empirical flow rates plus user-provided habits. Transparent and reproducible, with no AI in the maths.</a:t>
            </a:r>
            <a:endParaRPr lang="en-US" sz="1350" dirty="0"/>
          </a:p>
        </p:txBody>
      </p:sp>
      <p:sp>
        <p:nvSpPr>
          <p:cNvPr id="9" name="Shape 6"/>
          <p:cNvSpPr/>
          <p:nvPr/>
        </p:nvSpPr>
        <p:spPr>
          <a:xfrm>
            <a:off x="822960" y="3200400"/>
            <a:ext cx="4846320" cy="1005840"/>
          </a:xfrm>
          <a:prstGeom prst="roundRect">
            <a:avLst>
              <a:gd name="adj" fmla="val 10909"/>
            </a:avLst>
          </a:prstGeom>
          <a:solidFill>
            <a:srgbClr val="E3F1F7"/>
          </a:solidFill>
          <a:ln w="9525">
            <a:solidFill>
              <a:srgbClr val="E3F1F7"/>
            </a:solidFill>
            <a:prstDash val="solid"/>
          </a:ln>
        </p:spPr>
      </p:sp>
      <p:sp>
        <p:nvSpPr>
          <p:cNvPr id="10" name="Text 7"/>
          <p:cNvSpPr txBox="1"/>
          <p:nvPr/>
        </p:nvSpPr>
        <p:spPr>
          <a:xfrm>
            <a:off x="1051560" y="3291840"/>
            <a:ext cx="4389120" cy="320040"/>
          </a:xfrm>
          <a:prstGeom prst="rect">
            <a:avLst/>
          </a:prstGeom>
          <a:noFill/>
          <a:ln/>
        </p:spPr>
        <p:txBody>
          <a:bodyPr wrap="square" lIns="0" tIns="0" rIns="0" bIns="0" rtlCol="0" anchor="t"/>
          <a:lstStyle/>
          <a:p>
            <a:pPr indent="0" marL="0">
              <a:buNone/>
            </a:pPr>
            <a:r>
              <a:rPr lang="en-US" sz="1600" b="1" dirty="0">
                <a:solidFill>
                  <a:srgbClr val="0B6E99"/>
                </a:solidFill>
                <a:latin typeface="Cambria" pitchFamily="34" charset="0"/>
                <a:ea typeface="Cambria" pitchFamily="34" charset="-122"/>
                <a:cs typeface="Cambria" pitchFamily="34" charset="-120"/>
              </a:rPr>
              <a:t>Persons × Shower duration × Flow rate</a:t>
            </a:r>
            <a:endParaRPr lang="en-US" sz="1600" dirty="0"/>
          </a:p>
        </p:txBody>
      </p:sp>
      <p:sp>
        <p:nvSpPr>
          <p:cNvPr id="11" name="Text 8"/>
          <p:cNvSpPr txBox="1"/>
          <p:nvPr/>
        </p:nvSpPr>
        <p:spPr>
          <a:xfrm>
            <a:off x="1051560" y="3703320"/>
            <a:ext cx="4389120" cy="365760"/>
          </a:xfrm>
          <a:prstGeom prst="rect">
            <a:avLst/>
          </a:prstGeom>
          <a:noFill/>
          <a:ln/>
        </p:spPr>
        <p:txBody>
          <a:bodyPr wrap="square" lIns="0" tIns="0" rIns="0" bIns="0" rtlCol="0" anchor="t"/>
          <a:lstStyle/>
          <a:p>
            <a:pPr indent="0" marL="0">
              <a:buNone/>
            </a:pPr>
            <a:r>
              <a:rPr lang="en-US" sz="1300" dirty="0">
                <a:solidFill>
                  <a:srgbClr val="0B2239"/>
                </a:solidFill>
                <a:latin typeface="Calibri" pitchFamily="34" charset="0"/>
                <a:ea typeface="Calibri" pitchFamily="34" charset="-122"/>
                <a:cs typeface="Calibri" pitchFamily="34" charset="-120"/>
              </a:rPr>
              <a:t>e.g. 3 people × 10 min × 9.5 L/min = 285 L per shower cycle</a:t>
            </a:r>
            <a:endParaRPr lang="en-US" sz="1300" dirty="0"/>
          </a:p>
        </p:txBody>
      </p:sp>
      <p:sp>
        <p:nvSpPr>
          <p:cNvPr id="12" name="Shape 9"/>
          <p:cNvSpPr/>
          <p:nvPr/>
        </p:nvSpPr>
        <p:spPr>
          <a:xfrm>
            <a:off x="6245352" y="1508760"/>
            <a:ext cx="5394960" cy="2926080"/>
          </a:xfrm>
          <a:prstGeom prst="roundRect">
            <a:avLst>
              <a:gd name="adj" fmla="val 3750"/>
            </a:avLst>
          </a:prstGeom>
          <a:solidFill>
            <a:srgbClr val="FFFFFF"/>
          </a:solidFill>
          <a:ln w="9525">
            <a:solidFill>
              <a:srgbClr val="D5E5EE"/>
            </a:solidFill>
            <a:prstDash val="solid"/>
          </a:ln>
          <a:effectLst>
            <a:outerShdw sx="100000" sy="100000" kx="0" ky="0" algn="bl" rotWithShape="0" blurRad="101600" dist="25400" dir="5400000">
              <a:srgbClr val="0B2239">
                <a:alpha val="12000"/>
              </a:srgbClr>
            </a:outerShdw>
          </a:effectLst>
        </p:spPr>
      </p:sp>
      <p:sp>
        <p:nvSpPr>
          <p:cNvPr id="13" name="Shape 10"/>
          <p:cNvSpPr/>
          <p:nvPr/>
        </p:nvSpPr>
        <p:spPr>
          <a:xfrm>
            <a:off x="6519672" y="1737360"/>
            <a:ext cx="502920" cy="502920"/>
          </a:xfrm>
          <a:prstGeom prst="ellipse">
            <a:avLst/>
          </a:prstGeom>
          <a:solidFill>
            <a:srgbClr val="0FB5A6"/>
          </a:solidFill>
          <a:ln w="12700">
            <a:solidFill>
              <a:srgbClr val="0FB5A6"/>
            </a:solidFill>
            <a:prstDash val="solid"/>
          </a:ln>
        </p:spPr>
      </p:sp>
      <p:pic>
        <p:nvPicPr>
          <p:cNvPr id="14" name="Image 1" descr="preencoded.png">    </p:cNvPr>
          <p:cNvPicPr>
            <a:picLocks noChangeAspect="1"/>
          </p:cNvPicPr>
          <p:nvPr/>
        </p:nvPicPr>
        <p:blipFill>
          <a:blip r:embed="rId2"/>
          <a:stretch>
            <a:fillRect/>
          </a:stretch>
        </p:blipFill>
        <p:spPr>
          <a:xfrm>
            <a:off x="6645402" y="1863090"/>
            <a:ext cx="251460" cy="251460"/>
          </a:xfrm>
          <a:prstGeom prst="rect">
            <a:avLst/>
          </a:prstGeom>
        </p:spPr>
      </p:pic>
      <p:sp>
        <p:nvSpPr>
          <p:cNvPr id="15" name="Text 11"/>
          <p:cNvSpPr txBox="1"/>
          <p:nvPr/>
        </p:nvSpPr>
        <p:spPr>
          <a:xfrm>
            <a:off x="7159752" y="1810512"/>
            <a:ext cx="4206240" cy="365760"/>
          </a:xfrm>
          <a:prstGeom prst="rect">
            <a:avLst/>
          </a:prstGeom>
          <a:noFill/>
          <a:ln/>
        </p:spPr>
        <p:txBody>
          <a:bodyPr wrap="square" lIns="0" tIns="0" rIns="0" bIns="0" rtlCol="0" anchor="t"/>
          <a:lstStyle/>
          <a:p>
            <a:pPr indent="0" marL="0">
              <a:buNone/>
            </a:pPr>
            <a:r>
              <a:rPr lang="en-US" sz="2000" b="1" dirty="0">
                <a:solidFill>
                  <a:srgbClr val="0B2239"/>
                </a:solidFill>
                <a:latin typeface="Cambria" pitchFamily="34" charset="0"/>
                <a:ea typeface="Cambria" pitchFamily="34" charset="-122"/>
                <a:cs typeface="Cambria" pitchFamily="34" charset="-120"/>
              </a:rPr>
              <a:t>AI layer: Aqua Advisor</a:t>
            </a:r>
            <a:endParaRPr lang="en-US" sz="2000" dirty="0"/>
          </a:p>
        </p:txBody>
      </p:sp>
      <p:sp>
        <p:nvSpPr>
          <p:cNvPr id="16" name="Text 12"/>
          <p:cNvSpPr txBox="1"/>
          <p:nvPr/>
        </p:nvSpPr>
        <p:spPr>
          <a:xfrm>
            <a:off x="6519672" y="2468880"/>
            <a:ext cx="4846320" cy="173736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0B2239"/>
                </a:solidFill>
                <a:latin typeface="Calibri" pitchFamily="34" charset="0"/>
                <a:ea typeface="Calibri" pitchFamily="34" charset="-122"/>
                <a:cs typeface="Calibri" pitchFamily="34" charset="-120"/>
              </a:rPr>
              <a:t>Understands the user’s questions</a:t>
            </a:r>
            <a:endParaRPr lang="en-US" sz="1400" dirty="0"/>
          </a:p>
          <a:p>
            <a:pPr marL="342900" indent="-342900">
              <a:spcAft>
                <a:spcPts val="800"/>
              </a:spcAft>
              <a:buSzPct val="100000"/>
              <a:buChar char="•"/>
            </a:pPr>
            <a:r>
              <a:rPr lang="en-US" sz="1400" dirty="0">
                <a:solidFill>
                  <a:srgbClr val="0B2239"/>
                </a:solidFill>
                <a:latin typeface="Calibri" pitchFamily="34" charset="0"/>
                <a:ea typeface="Calibri" pitchFamily="34" charset="-122"/>
                <a:cs typeface="Calibri" pitchFamily="34" charset="-120"/>
              </a:rPr>
              <a:t>Uses the calculated water profile</a:t>
            </a:r>
            <a:endParaRPr lang="en-US" sz="1400" dirty="0"/>
          </a:p>
          <a:p>
            <a:pPr marL="342900" indent="-342900">
              <a:spcAft>
                <a:spcPts val="800"/>
              </a:spcAft>
              <a:buSzPct val="100000"/>
              <a:buChar char="•"/>
            </a:pPr>
            <a:r>
              <a:rPr lang="en-US" sz="1400" dirty="0">
                <a:solidFill>
                  <a:srgbClr val="0B2239"/>
                </a:solidFill>
                <a:latin typeface="Calibri" pitchFamily="34" charset="0"/>
                <a:ea typeface="Calibri" pitchFamily="34" charset="-122"/>
                <a:cs typeface="Calibri" pitchFamily="34" charset="-120"/>
              </a:rPr>
              <a:t>Retrieves relevant conservation knowledge (RAG)</a:t>
            </a:r>
            <a:endParaRPr lang="en-US" sz="1400" dirty="0"/>
          </a:p>
          <a:p>
            <a:pPr marL="342900" indent="-342900">
              <a:spcAft>
                <a:spcPts val="800"/>
              </a:spcAft>
              <a:buSzPct val="100000"/>
              <a:buChar char="•"/>
            </a:pPr>
            <a:r>
              <a:rPr lang="en-US" sz="1400" dirty="0">
                <a:solidFill>
                  <a:srgbClr val="0B2239"/>
                </a:solidFill>
                <a:latin typeface="Calibri" pitchFamily="34" charset="0"/>
                <a:ea typeface="Calibri" pitchFamily="34" charset="-122"/>
                <a:cs typeface="Calibri" pitchFamily="34" charset="-120"/>
              </a:rPr>
              <a:t>Generates personalised, natural-language advice</a:t>
            </a:r>
            <a:endParaRPr lang="en-US" sz="1400" dirty="0"/>
          </a:p>
        </p:txBody>
      </p:sp>
      <p:sp>
        <p:nvSpPr>
          <p:cNvPr id="17" name="Shape 13"/>
          <p:cNvSpPr/>
          <p:nvPr/>
        </p:nvSpPr>
        <p:spPr>
          <a:xfrm>
            <a:off x="548640" y="4709160"/>
            <a:ext cx="3566160" cy="1463040"/>
          </a:xfrm>
          <a:prstGeom prst="roundRect">
            <a:avLst>
              <a:gd name="adj" fmla="val 7500"/>
            </a:avLst>
          </a:prstGeom>
          <a:solidFill>
            <a:srgbClr val="FFFFFF"/>
          </a:solidFill>
          <a:ln w="9525">
            <a:solidFill>
              <a:srgbClr val="D5E5EE"/>
            </a:solidFill>
            <a:prstDash val="solid"/>
          </a:ln>
          <a:effectLst>
            <a:outerShdw sx="100000" sy="100000" kx="0" ky="0" algn="bl" rotWithShape="0" blurRad="101600" dist="25400" dir="5400000">
              <a:srgbClr val="0B2239">
                <a:alpha val="12000"/>
              </a:srgbClr>
            </a:outerShdw>
          </a:effectLst>
        </p:spPr>
      </p:sp>
      <p:sp>
        <p:nvSpPr>
          <p:cNvPr id="18" name="Shape 14"/>
          <p:cNvSpPr/>
          <p:nvPr/>
        </p:nvSpPr>
        <p:spPr>
          <a:xfrm>
            <a:off x="777240" y="4892040"/>
            <a:ext cx="411480" cy="411480"/>
          </a:xfrm>
          <a:prstGeom prst="ellipse">
            <a:avLst/>
          </a:prstGeom>
          <a:solidFill>
            <a:srgbClr val="0B6E99"/>
          </a:solidFill>
          <a:ln w="12700">
            <a:solidFill>
              <a:srgbClr val="0B6E99"/>
            </a:solidFill>
            <a:prstDash val="solid"/>
          </a:ln>
        </p:spPr>
      </p:sp>
      <p:pic>
        <p:nvPicPr>
          <p:cNvPr id="19" name="Image 2" descr="preencoded.png">    </p:cNvPr>
          <p:cNvPicPr>
            <a:picLocks noChangeAspect="1"/>
          </p:cNvPicPr>
          <p:nvPr/>
        </p:nvPicPr>
        <p:blipFill>
          <a:blip r:embed="rId3"/>
          <a:stretch>
            <a:fillRect/>
          </a:stretch>
        </p:blipFill>
        <p:spPr>
          <a:xfrm>
            <a:off x="880110" y="4994910"/>
            <a:ext cx="205740" cy="205740"/>
          </a:xfrm>
          <a:prstGeom prst="rect">
            <a:avLst/>
          </a:prstGeom>
        </p:spPr>
      </p:pic>
      <p:sp>
        <p:nvSpPr>
          <p:cNvPr id="20" name="Text 15"/>
          <p:cNvSpPr txBox="1"/>
          <p:nvPr/>
        </p:nvSpPr>
        <p:spPr>
          <a:xfrm>
            <a:off x="1325880" y="4983480"/>
            <a:ext cx="2560320" cy="274320"/>
          </a:xfrm>
          <a:prstGeom prst="rect">
            <a:avLst/>
          </a:prstGeom>
          <a:noFill/>
          <a:ln/>
        </p:spPr>
        <p:txBody>
          <a:bodyPr wrap="square" lIns="0" tIns="0" rIns="0" bIns="0" rtlCol="0" anchor="t"/>
          <a:lstStyle/>
          <a:p>
            <a:pPr indent="0" marL="0">
              <a:buNone/>
            </a:pPr>
            <a:r>
              <a:rPr lang="en-US" sz="1200" b="1" spc="200" kern="0" dirty="0">
                <a:solidFill>
                  <a:srgbClr val="0B6E99"/>
                </a:solidFill>
                <a:latin typeface="Calibri" pitchFamily="34" charset="0"/>
                <a:ea typeface="Calibri" pitchFamily="34" charset="-122"/>
                <a:cs typeface="Calibri" pitchFamily="34" charset="-120"/>
              </a:rPr>
              <a:t>FRONTEND</a:t>
            </a:r>
            <a:endParaRPr lang="en-US" sz="1200" dirty="0"/>
          </a:p>
        </p:txBody>
      </p:sp>
      <p:sp>
        <p:nvSpPr>
          <p:cNvPr id="21" name="Text 16"/>
          <p:cNvSpPr txBox="1"/>
          <p:nvPr/>
        </p:nvSpPr>
        <p:spPr>
          <a:xfrm>
            <a:off x="777240" y="5468112"/>
            <a:ext cx="3154680" cy="640080"/>
          </a:xfrm>
          <a:prstGeom prst="rect">
            <a:avLst/>
          </a:prstGeom>
          <a:noFill/>
          <a:ln/>
        </p:spPr>
        <p:txBody>
          <a:bodyPr wrap="square" lIns="0" tIns="0" rIns="0" bIns="0" rtlCol="0" anchor="t"/>
          <a:lstStyle/>
          <a:p>
            <a:pPr indent="0" marL="0">
              <a:buNone/>
            </a:pPr>
            <a:r>
              <a:rPr lang="en-US" sz="1250" dirty="0">
                <a:solidFill>
                  <a:srgbClr val="0B2239"/>
                </a:solidFill>
                <a:latin typeface="Calibri" pitchFamily="34" charset="0"/>
                <a:ea typeface="Calibri" pitchFamily="34" charset="-122"/>
                <a:cs typeface="Calibri" pitchFamily="34" charset="-120"/>
              </a:rPr>
              <a:t>React 18 · Vite 5 · Tailwind CSS · Lucide React · Framer Motion</a:t>
            </a:r>
            <a:endParaRPr lang="en-US" sz="1250" dirty="0"/>
          </a:p>
        </p:txBody>
      </p:sp>
      <p:sp>
        <p:nvSpPr>
          <p:cNvPr id="22" name="Shape 17"/>
          <p:cNvSpPr/>
          <p:nvPr/>
        </p:nvSpPr>
        <p:spPr>
          <a:xfrm>
            <a:off x="4297680" y="4709160"/>
            <a:ext cx="3566160" cy="1463040"/>
          </a:xfrm>
          <a:prstGeom prst="roundRect">
            <a:avLst>
              <a:gd name="adj" fmla="val 7500"/>
            </a:avLst>
          </a:prstGeom>
          <a:solidFill>
            <a:srgbClr val="FFFFFF"/>
          </a:solidFill>
          <a:ln w="9525">
            <a:solidFill>
              <a:srgbClr val="D5E5EE"/>
            </a:solidFill>
            <a:prstDash val="solid"/>
          </a:ln>
          <a:effectLst>
            <a:outerShdw sx="100000" sy="100000" kx="0" ky="0" algn="bl" rotWithShape="0" blurRad="101600" dist="25400" dir="5400000">
              <a:srgbClr val="0B2239">
                <a:alpha val="12000"/>
              </a:srgbClr>
            </a:outerShdw>
          </a:effectLst>
        </p:spPr>
      </p:sp>
      <p:sp>
        <p:nvSpPr>
          <p:cNvPr id="23" name="Shape 18"/>
          <p:cNvSpPr/>
          <p:nvPr/>
        </p:nvSpPr>
        <p:spPr>
          <a:xfrm>
            <a:off x="4526280" y="4892040"/>
            <a:ext cx="411480" cy="411480"/>
          </a:xfrm>
          <a:prstGeom prst="ellipse">
            <a:avLst/>
          </a:prstGeom>
          <a:solidFill>
            <a:srgbClr val="0B6E99"/>
          </a:solidFill>
          <a:ln w="12700">
            <a:solidFill>
              <a:srgbClr val="0B6E99"/>
            </a:solidFill>
            <a:prstDash val="solid"/>
          </a:ln>
        </p:spPr>
      </p:sp>
      <p:pic>
        <p:nvPicPr>
          <p:cNvPr id="24" name="Image 3" descr="preencoded.png">    </p:cNvPr>
          <p:cNvPicPr>
            <a:picLocks noChangeAspect="1"/>
          </p:cNvPicPr>
          <p:nvPr/>
        </p:nvPicPr>
        <p:blipFill>
          <a:blip r:embed="rId4"/>
          <a:stretch>
            <a:fillRect/>
          </a:stretch>
        </p:blipFill>
        <p:spPr>
          <a:xfrm>
            <a:off x="4629150" y="4994910"/>
            <a:ext cx="205740" cy="205740"/>
          </a:xfrm>
          <a:prstGeom prst="rect">
            <a:avLst/>
          </a:prstGeom>
        </p:spPr>
      </p:pic>
      <p:sp>
        <p:nvSpPr>
          <p:cNvPr id="25" name="Text 19"/>
          <p:cNvSpPr txBox="1"/>
          <p:nvPr/>
        </p:nvSpPr>
        <p:spPr>
          <a:xfrm>
            <a:off x="5074920" y="4983480"/>
            <a:ext cx="2560320" cy="274320"/>
          </a:xfrm>
          <a:prstGeom prst="rect">
            <a:avLst/>
          </a:prstGeom>
          <a:noFill/>
          <a:ln/>
        </p:spPr>
        <p:txBody>
          <a:bodyPr wrap="square" lIns="0" tIns="0" rIns="0" bIns="0" rtlCol="0" anchor="t"/>
          <a:lstStyle/>
          <a:p>
            <a:pPr indent="0" marL="0">
              <a:buNone/>
            </a:pPr>
            <a:r>
              <a:rPr lang="en-US" sz="1200" b="1" spc="200" kern="0" dirty="0">
                <a:solidFill>
                  <a:srgbClr val="0B6E99"/>
                </a:solidFill>
                <a:latin typeface="Calibri" pitchFamily="34" charset="0"/>
                <a:ea typeface="Calibri" pitchFamily="34" charset="-122"/>
                <a:cs typeface="Calibri" pitchFamily="34" charset="-120"/>
              </a:rPr>
              <a:t>BACKEND</a:t>
            </a:r>
            <a:endParaRPr lang="en-US" sz="1200" dirty="0"/>
          </a:p>
        </p:txBody>
      </p:sp>
      <p:sp>
        <p:nvSpPr>
          <p:cNvPr id="26" name="Text 20"/>
          <p:cNvSpPr txBox="1"/>
          <p:nvPr/>
        </p:nvSpPr>
        <p:spPr>
          <a:xfrm>
            <a:off x="4526280" y="5468112"/>
            <a:ext cx="3154680" cy="640080"/>
          </a:xfrm>
          <a:prstGeom prst="rect">
            <a:avLst/>
          </a:prstGeom>
          <a:noFill/>
          <a:ln/>
        </p:spPr>
        <p:txBody>
          <a:bodyPr wrap="square" lIns="0" tIns="0" rIns="0" bIns="0" rtlCol="0" anchor="t"/>
          <a:lstStyle/>
          <a:p>
            <a:pPr indent="0" marL="0">
              <a:buNone/>
            </a:pPr>
            <a:r>
              <a:rPr lang="en-US" sz="1250" dirty="0">
                <a:solidFill>
                  <a:srgbClr val="0B2239"/>
                </a:solidFill>
                <a:latin typeface="Calibri" pitchFamily="34" charset="0"/>
                <a:ea typeface="Calibri" pitchFamily="34" charset="-122"/>
                <a:cs typeface="Calibri" pitchFamily="34" charset="-120"/>
              </a:rPr>
              <a:t>Python 3.13 · FastAPI · Uvicorn · Pydantic V2</a:t>
            </a:r>
            <a:endParaRPr lang="en-US" sz="1250" dirty="0"/>
          </a:p>
        </p:txBody>
      </p:sp>
      <p:sp>
        <p:nvSpPr>
          <p:cNvPr id="27" name="Shape 21"/>
          <p:cNvSpPr/>
          <p:nvPr/>
        </p:nvSpPr>
        <p:spPr>
          <a:xfrm>
            <a:off x="8046720" y="4709160"/>
            <a:ext cx="3566160" cy="1463040"/>
          </a:xfrm>
          <a:prstGeom prst="roundRect">
            <a:avLst>
              <a:gd name="adj" fmla="val 7500"/>
            </a:avLst>
          </a:prstGeom>
          <a:solidFill>
            <a:srgbClr val="FFFFFF"/>
          </a:solidFill>
          <a:ln w="9525">
            <a:solidFill>
              <a:srgbClr val="D5E5EE"/>
            </a:solidFill>
            <a:prstDash val="solid"/>
          </a:ln>
          <a:effectLst>
            <a:outerShdw sx="100000" sy="100000" kx="0" ky="0" algn="bl" rotWithShape="0" blurRad="101600" dist="25400" dir="5400000">
              <a:srgbClr val="0B2239">
                <a:alpha val="12000"/>
              </a:srgbClr>
            </a:outerShdw>
          </a:effectLst>
        </p:spPr>
      </p:sp>
      <p:sp>
        <p:nvSpPr>
          <p:cNvPr id="28" name="Shape 22"/>
          <p:cNvSpPr/>
          <p:nvPr/>
        </p:nvSpPr>
        <p:spPr>
          <a:xfrm>
            <a:off x="8275320" y="4892040"/>
            <a:ext cx="411480" cy="411480"/>
          </a:xfrm>
          <a:prstGeom prst="ellipse">
            <a:avLst/>
          </a:prstGeom>
          <a:solidFill>
            <a:srgbClr val="0FB5A6"/>
          </a:solidFill>
          <a:ln w="12700">
            <a:solidFill>
              <a:srgbClr val="0FB5A6"/>
            </a:solidFill>
            <a:prstDash val="solid"/>
          </a:ln>
        </p:spPr>
      </p:sp>
      <p:pic>
        <p:nvPicPr>
          <p:cNvPr id="29" name="Image 4" descr="preencoded.png">    </p:cNvPr>
          <p:cNvPicPr>
            <a:picLocks noChangeAspect="1"/>
          </p:cNvPicPr>
          <p:nvPr/>
        </p:nvPicPr>
        <p:blipFill>
          <a:blip r:embed="rId5"/>
          <a:stretch>
            <a:fillRect/>
          </a:stretch>
        </p:blipFill>
        <p:spPr>
          <a:xfrm>
            <a:off x="8378190" y="4994910"/>
            <a:ext cx="205740" cy="205740"/>
          </a:xfrm>
          <a:prstGeom prst="rect">
            <a:avLst/>
          </a:prstGeom>
        </p:spPr>
      </p:pic>
      <p:sp>
        <p:nvSpPr>
          <p:cNvPr id="30" name="Text 23"/>
          <p:cNvSpPr txBox="1"/>
          <p:nvPr/>
        </p:nvSpPr>
        <p:spPr>
          <a:xfrm>
            <a:off x="8823960" y="4983480"/>
            <a:ext cx="2560320" cy="274320"/>
          </a:xfrm>
          <a:prstGeom prst="rect">
            <a:avLst/>
          </a:prstGeom>
          <a:noFill/>
          <a:ln/>
        </p:spPr>
        <p:txBody>
          <a:bodyPr wrap="square" lIns="0" tIns="0" rIns="0" bIns="0" rtlCol="0" anchor="t"/>
          <a:lstStyle/>
          <a:p>
            <a:pPr indent="0" marL="0">
              <a:buNone/>
            </a:pPr>
            <a:r>
              <a:rPr lang="en-US" sz="1200" b="1" spc="200" kern="0" dirty="0">
                <a:solidFill>
                  <a:srgbClr val="0B6E99"/>
                </a:solidFill>
                <a:latin typeface="Calibri" pitchFamily="34" charset="0"/>
                <a:ea typeface="Calibri" pitchFamily="34" charset="-122"/>
                <a:cs typeface="Calibri" pitchFamily="34" charset="-120"/>
              </a:rPr>
              <a:t>AI PROVIDERS</a:t>
            </a:r>
            <a:endParaRPr lang="en-US" sz="1200" dirty="0"/>
          </a:p>
        </p:txBody>
      </p:sp>
      <p:sp>
        <p:nvSpPr>
          <p:cNvPr id="31" name="Text 24"/>
          <p:cNvSpPr txBox="1"/>
          <p:nvPr/>
        </p:nvSpPr>
        <p:spPr>
          <a:xfrm>
            <a:off x="8275320" y="5468112"/>
            <a:ext cx="3154680" cy="640080"/>
          </a:xfrm>
          <a:prstGeom prst="rect">
            <a:avLst/>
          </a:prstGeom>
          <a:noFill/>
          <a:ln/>
        </p:spPr>
        <p:txBody>
          <a:bodyPr wrap="square" lIns="0" tIns="0" rIns="0" bIns="0" rtlCol="0" anchor="t"/>
          <a:lstStyle/>
          <a:p>
            <a:pPr indent="0" marL="0">
              <a:buNone/>
            </a:pPr>
            <a:r>
              <a:rPr lang="en-US" sz="1250" dirty="0">
                <a:solidFill>
                  <a:srgbClr val="0B2239"/>
                </a:solidFill>
                <a:latin typeface="Calibri" pitchFamily="34" charset="0"/>
                <a:ea typeface="Calibri" pitchFamily="34" charset="-122"/>
                <a:cs typeface="Calibri" pitchFamily="34" charset="-120"/>
              </a:rPr>
              <a:t>OpenAI-, Gemini-compatible and Groq LLMs, with a Smart Local Heuristic Engine fallback</a:t>
            </a:r>
            <a:endParaRPr lang="en-US" sz="1250" dirty="0"/>
          </a:p>
        </p:txBody>
      </p:sp>
      <p:sp>
        <p:nvSpPr>
          <p:cNvPr id="32" name="Text 25"/>
          <p:cNvSpPr txBox="1"/>
          <p:nvPr/>
        </p:nvSpPr>
        <p:spPr>
          <a:xfrm>
            <a:off x="548640" y="6510528"/>
            <a:ext cx="5486400" cy="228600"/>
          </a:xfrm>
          <a:prstGeom prst="rect">
            <a:avLst/>
          </a:prstGeom>
          <a:noFill/>
          <a:ln/>
        </p:spPr>
        <p:txBody>
          <a:bodyPr wrap="square" lIns="0" tIns="0" rIns="0" bIns="0" rtlCol="0" anchor="t"/>
          <a:lstStyle/>
          <a:p>
            <a:pPr indent="0" marL="0">
              <a:buNone/>
            </a:pPr>
            <a:r>
              <a:rPr lang="en-US" sz="1000" dirty="0">
                <a:solidFill>
                  <a:srgbClr val="5B7185"/>
                </a:solidFill>
                <a:latin typeface="Calibri" pitchFamily="34" charset="0"/>
                <a:ea typeface="Calibri" pitchFamily="34" charset="-122"/>
                <a:cs typeface="Calibri" pitchFamily="34" charset="-120"/>
              </a:rPr>
              <a:t>Smart Water Usage Advisor  |  SDG 6.4</a:t>
            </a:r>
            <a:endParaRPr lang="en-US" sz="1000" dirty="0"/>
          </a:p>
        </p:txBody>
      </p:sp>
      <p:sp>
        <p:nvSpPr>
          <p:cNvPr id="33" name="Text 26"/>
          <p:cNvSpPr txBox="1"/>
          <p:nvPr/>
        </p:nvSpPr>
        <p:spPr>
          <a:xfrm>
            <a:off x="10725912" y="6510528"/>
            <a:ext cx="914400" cy="228600"/>
          </a:xfrm>
          <a:prstGeom prst="rect">
            <a:avLst/>
          </a:prstGeom>
          <a:noFill/>
          <a:ln/>
        </p:spPr>
        <p:txBody>
          <a:bodyPr wrap="square" lIns="0" tIns="0" rIns="0" bIns="0" rtlCol="0" anchor="t"/>
          <a:lstStyle/>
          <a:p>
            <a:pPr algn="r" indent="0" marL="0">
              <a:buNone/>
            </a:pPr>
            <a:r>
              <a:rPr lang="en-US" sz="1000" dirty="0">
                <a:solidFill>
                  <a:srgbClr val="5B7185"/>
                </a:solidFill>
                <a:latin typeface="Calibri" pitchFamily="34" charset="0"/>
                <a:ea typeface="Calibri" pitchFamily="34" charset="-122"/>
                <a:cs typeface="Calibri" pitchFamily="34" charset="-120"/>
              </a:rPr>
              <a:t>4 / 9</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2F8FB"/>
        </a:solidFill>
      </p:bgPr>
    </p:bg>
    <p:spTree>
      <p:nvGrpSpPr>
        <p:cNvPr id="1" name=""/>
        <p:cNvGrpSpPr/>
        <p:nvPr/>
      </p:nvGrpSpPr>
      <p:grpSpPr>
        <a:xfrm>
          <a:off x="0" y="0"/>
          <a:ext cx="0" cy="0"/>
          <a:chOff x="0" y="0"/>
          <a:chExt cx="0" cy="0"/>
        </a:xfrm>
      </p:grpSpPr>
      <p:sp>
        <p:nvSpPr>
          <p:cNvPr id="2" name="Text 0"/>
          <p:cNvSpPr txBox="1"/>
          <p:nvPr/>
        </p:nvSpPr>
        <p:spPr>
          <a:xfrm>
            <a:off x="548640" y="365760"/>
            <a:ext cx="7315200" cy="274320"/>
          </a:xfrm>
          <a:prstGeom prst="rect">
            <a:avLst/>
          </a:prstGeom>
          <a:noFill/>
          <a:ln/>
        </p:spPr>
        <p:txBody>
          <a:bodyPr wrap="square" lIns="0" tIns="0" rIns="0" bIns="0" rtlCol="0" anchor="t"/>
          <a:lstStyle/>
          <a:p>
            <a:pPr indent="0" marL="0">
              <a:buNone/>
            </a:pPr>
            <a:r>
              <a:rPr lang="en-US" sz="1200" b="1" spc="300" kern="0" dirty="0">
                <a:solidFill>
                  <a:srgbClr val="0FB5A6"/>
                </a:solidFill>
                <a:latin typeface="Calibri" pitchFamily="34" charset="0"/>
                <a:ea typeface="Calibri" pitchFamily="34" charset="-122"/>
                <a:cs typeface="Calibri" pitchFamily="34" charset="-120"/>
              </a:rPr>
              <a:t>04  RAG WORKFLOW</a:t>
            </a:r>
            <a:endParaRPr lang="en-US" sz="1200" dirty="0"/>
          </a:p>
        </p:txBody>
      </p:sp>
      <p:sp>
        <p:nvSpPr>
          <p:cNvPr id="3" name="Text 1"/>
          <p:cNvSpPr txBox="1"/>
          <p:nvPr/>
        </p:nvSpPr>
        <p:spPr>
          <a:xfrm>
            <a:off x="548640" y="658368"/>
            <a:ext cx="11064240" cy="640080"/>
          </a:xfrm>
          <a:prstGeom prst="rect">
            <a:avLst/>
          </a:prstGeom>
          <a:noFill/>
          <a:ln/>
        </p:spPr>
        <p:txBody>
          <a:bodyPr wrap="square" lIns="0" tIns="0" rIns="0" bIns="0" rtlCol="0" anchor="t"/>
          <a:lstStyle/>
          <a:p>
            <a:pPr indent="0" marL="0">
              <a:buNone/>
            </a:pPr>
            <a:r>
              <a:rPr lang="en-US" sz="3200" b="1" dirty="0">
                <a:solidFill>
                  <a:srgbClr val="0B2239"/>
                </a:solidFill>
                <a:latin typeface="Cambria" pitchFamily="34" charset="0"/>
                <a:ea typeface="Cambria" pitchFamily="34" charset="-122"/>
                <a:cs typeface="Cambria" pitchFamily="34" charset="-120"/>
              </a:rPr>
              <a:t>Grounded Advice, Lightweight Retrieval</a:t>
            </a:r>
            <a:endParaRPr lang="en-US" sz="3200" dirty="0"/>
          </a:p>
        </p:txBody>
      </p:sp>
      <p:sp>
        <p:nvSpPr>
          <p:cNvPr id="4" name="Shape 2"/>
          <p:cNvSpPr/>
          <p:nvPr/>
        </p:nvSpPr>
        <p:spPr>
          <a:xfrm>
            <a:off x="1394460" y="1965960"/>
            <a:ext cx="9372600" cy="0"/>
          </a:xfrm>
          <a:prstGeom prst="line">
            <a:avLst/>
          </a:prstGeom>
          <a:noFill/>
          <a:ln w="25400">
            <a:solidFill>
              <a:srgbClr val="0FB5A6"/>
            </a:solidFill>
            <a:prstDash val="dash"/>
          </a:ln>
        </p:spPr>
      </p:sp>
      <p:sp>
        <p:nvSpPr>
          <p:cNvPr id="5" name="Shape 3"/>
          <p:cNvSpPr/>
          <p:nvPr/>
        </p:nvSpPr>
        <p:spPr>
          <a:xfrm>
            <a:off x="548640" y="2377440"/>
            <a:ext cx="1691640" cy="1874520"/>
          </a:xfrm>
          <a:prstGeom prst="roundRect">
            <a:avLst>
              <a:gd name="adj" fmla="val 6486"/>
            </a:avLst>
          </a:prstGeom>
          <a:solidFill>
            <a:srgbClr val="FFFFFF"/>
          </a:solidFill>
          <a:ln w="9525">
            <a:solidFill>
              <a:srgbClr val="D5E5EE"/>
            </a:solidFill>
            <a:prstDash val="solid"/>
          </a:ln>
          <a:effectLst>
            <a:outerShdw sx="100000" sy="100000" kx="0" ky="0" algn="bl" rotWithShape="0" blurRad="101600" dist="25400" dir="5400000">
              <a:srgbClr val="0B2239">
                <a:alpha val="12000"/>
              </a:srgbClr>
            </a:outerShdw>
          </a:effectLst>
        </p:spPr>
      </p:sp>
      <p:sp>
        <p:nvSpPr>
          <p:cNvPr id="6" name="Shape 4"/>
          <p:cNvSpPr/>
          <p:nvPr/>
        </p:nvSpPr>
        <p:spPr>
          <a:xfrm>
            <a:off x="1120140" y="1691640"/>
            <a:ext cx="548640" cy="548640"/>
          </a:xfrm>
          <a:prstGeom prst="ellipse">
            <a:avLst/>
          </a:prstGeom>
          <a:solidFill>
            <a:srgbClr val="0B6E99"/>
          </a:solidFill>
          <a:ln w="12700">
            <a:solidFill>
              <a:srgbClr val="0B6E99"/>
            </a:solidFill>
            <a:prstDash val="solid"/>
          </a:ln>
        </p:spPr>
      </p:sp>
      <p:pic>
        <p:nvPicPr>
          <p:cNvPr id="7" name="Image 0" descr="preencoded.png">    </p:cNvPr>
          <p:cNvPicPr>
            <a:picLocks noChangeAspect="1"/>
          </p:cNvPicPr>
          <p:nvPr/>
        </p:nvPicPr>
        <p:blipFill>
          <a:blip r:embed="rId1"/>
          <a:stretch>
            <a:fillRect/>
          </a:stretch>
        </p:blipFill>
        <p:spPr>
          <a:xfrm>
            <a:off x="1257300" y="1828800"/>
            <a:ext cx="274320" cy="274320"/>
          </a:xfrm>
          <a:prstGeom prst="rect">
            <a:avLst/>
          </a:prstGeom>
        </p:spPr>
      </p:pic>
      <p:sp>
        <p:nvSpPr>
          <p:cNvPr id="8" name="Text 5"/>
          <p:cNvSpPr txBox="1"/>
          <p:nvPr/>
        </p:nvSpPr>
        <p:spPr>
          <a:xfrm>
            <a:off x="685800" y="2514600"/>
            <a:ext cx="1417320" cy="274320"/>
          </a:xfrm>
          <a:prstGeom prst="rect">
            <a:avLst/>
          </a:prstGeom>
          <a:noFill/>
          <a:ln/>
        </p:spPr>
        <p:txBody>
          <a:bodyPr wrap="square" lIns="0" tIns="0" rIns="0" bIns="0" rtlCol="0" anchor="t"/>
          <a:lstStyle/>
          <a:p>
            <a:pPr algn="ctr" indent="0" marL="0">
              <a:buNone/>
            </a:pPr>
            <a:r>
              <a:rPr lang="en-US" sz="1400" b="1" dirty="0">
                <a:solidFill>
                  <a:srgbClr val="0B2239"/>
                </a:solidFill>
                <a:latin typeface="Calibri" pitchFamily="34" charset="0"/>
                <a:ea typeface="Calibri" pitchFamily="34" charset="-122"/>
                <a:cs typeface="Calibri" pitchFamily="34" charset="-120"/>
              </a:rPr>
              <a:t>User question</a:t>
            </a:r>
            <a:endParaRPr lang="en-US" sz="1400" dirty="0"/>
          </a:p>
        </p:txBody>
      </p:sp>
      <p:sp>
        <p:nvSpPr>
          <p:cNvPr id="9" name="Text 6"/>
          <p:cNvSpPr txBox="1"/>
          <p:nvPr/>
        </p:nvSpPr>
        <p:spPr>
          <a:xfrm>
            <a:off x="685800" y="2880360"/>
            <a:ext cx="1417320" cy="1280160"/>
          </a:xfrm>
          <a:prstGeom prst="rect">
            <a:avLst/>
          </a:prstGeom>
          <a:noFill/>
          <a:ln/>
        </p:spPr>
        <p:txBody>
          <a:bodyPr wrap="square" lIns="0" tIns="0" rIns="0" bIns="0" rtlCol="0" anchor="t"/>
          <a:lstStyle/>
          <a:p>
            <a:pPr algn="ctr" indent="0" marL="0">
              <a:buNone/>
            </a:pPr>
            <a:r>
              <a:rPr lang="en-US" sz="1200" dirty="0">
                <a:solidFill>
                  <a:srgbClr val="5B7185"/>
                </a:solidFill>
                <a:latin typeface="Calibri" pitchFamily="34" charset="0"/>
                <a:ea typeface="Calibri" pitchFamily="34" charset="-122"/>
                <a:cs typeface="Calibri" pitchFamily="34" charset="-120"/>
              </a:rPr>
              <a:t>Asked in the Aqua Advisor chat</a:t>
            </a:r>
            <a:endParaRPr lang="en-US" sz="1200" dirty="0"/>
          </a:p>
        </p:txBody>
      </p:sp>
      <p:sp>
        <p:nvSpPr>
          <p:cNvPr id="10" name="Shape 7"/>
          <p:cNvSpPr/>
          <p:nvPr/>
        </p:nvSpPr>
        <p:spPr>
          <a:xfrm>
            <a:off x="2423160" y="2377440"/>
            <a:ext cx="1691640" cy="1874520"/>
          </a:xfrm>
          <a:prstGeom prst="roundRect">
            <a:avLst>
              <a:gd name="adj" fmla="val 6486"/>
            </a:avLst>
          </a:prstGeom>
          <a:solidFill>
            <a:srgbClr val="FFFFFF"/>
          </a:solidFill>
          <a:ln w="9525">
            <a:solidFill>
              <a:srgbClr val="D5E5EE"/>
            </a:solidFill>
            <a:prstDash val="solid"/>
          </a:ln>
          <a:effectLst>
            <a:outerShdw sx="100000" sy="100000" kx="0" ky="0" algn="bl" rotWithShape="0" blurRad="101600" dist="25400" dir="5400000">
              <a:srgbClr val="0B2239">
                <a:alpha val="12000"/>
              </a:srgbClr>
            </a:outerShdw>
          </a:effectLst>
        </p:spPr>
      </p:sp>
      <p:sp>
        <p:nvSpPr>
          <p:cNvPr id="11" name="Shape 8"/>
          <p:cNvSpPr/>
          <p:nvPr/>
        </p:nvSpPr>
        <p:spPr>
          <a:xfrm>
            <a:off x="2994660" y="1691640"/>
            <a:ext cx="548640" cy="548640"/>
          </a:xfrm>
          <a:prstGeom prst="ellipse">
            <a:avLst/>
          </a:prstGeom>
          <a:solidFill>
            <a:srgbClr val="0B6E99"/>
          </a:solidFill>
          <a:ln w="12700">
            <a:solidFill>
              <a:srgbClr val="0B6E99"/>
            </a:solidFill>
            <a:prstDash val="solid"/>
          </a:ln>
        </p:spPr>
      </p:sp>
      <p:pic>
        <p:nvPicPr>
          <p:cNvPr id="12" name="Image 1" descr="preencoded.png">    </p:cNvPr>
          <p:cNvPicPr>
            <a:picLocks noChangeAspect="1"/>
          </p:cNvPicPr>
          <p:nvPr/>
        </p:nvPicPr>
        <p:blipFill>
          <a:blip r:embed="rId2"/>
          <a:stretch>
            <a:fillRect/>
          </a:stretch>
        </p:blipFill>
        <p:spPr>
          <a:xfrm>
            <a:off x="3131820" y="1828800"/>
            <a:ext cx="274320" cy="274320"/>
          </a:xfrm>
          <a:prstGeom prst="rect">
            <a:avLst/>
          </a:prstGeom>
        </p:spPr>
      </p:pic>
      <p:sp>
        <p:nvSpPr>
          <p:cNvPr id="13" name="Text 9"/>
          <p:cNvSpPr txBox="1"/>
          <p:nvPr/>
        </p:nvSpPr>
        <p:spPr>
          <a:xfrm>
            <a:off x="2560320" y="2514600"/>
            <a:ext cx="1417320" cy="274320"/>
          </a:xfrm>
          <a:prstGeom prst="rect">
            <a:avLst/>
          </a:prstGeom>
          <a:noFill/>
          <a:ln/>
        </p:spPr>
        <p:txBody>
          <a:bodyPr wrap="square" lIns="0" tIns="0" rIns="0" bIns="0" rtlCol="0" anchor="t"/>
          <a:lstStyle/>
          <a:p>
            <a:pPr algn="ctr" indent="0" marL="0">
              <a:buNone/>
            </a:pPr>
            <a:r>
              <a:rPr lang="en-US" sz="1400" b="1" dirty="0">
                <a:solidFill>
                  <a:srgbClr val="0B2239"/>
                </a:solidFill>
                <a:latin typeface="Calibri" pitchFamily="34" charset="0"/>
                <a:ea typeface="Calibri" pitchFamily="34" charset="-122"/>
                <a:cs typeface="Calibri" pitchFamily="34" charset="-120"/>
              </a:rPr>
              <a:t>Tokenise</a:t>
            </a:r>
            <a:endParaRPr lang="en-US" sz="1400" dirty="0"/>
          </a:p>
        </p:txBody>
      </p:sp>
      <p:sp>
        <p:nvSpPr>
          <p:cNvPr id="14" name="Text 10"/>
          <p:cNvSpPr txBox="1"/>
          <p:nvPr/>
        </p:nvSpPr>
        <p:spPr>
          <a:xfrm>
            <a:off x="2560320" y="2880360"/>
            <a:ext cx="1417320" cy="1280160"/>
          </a:xfrm>
          <a:prstGeom prst="rect">
            <a:avLst/>
          </a:prstGeom>
          <a:noFill/>
          <a:ln/>
        </p:spPr>
        <p:txBody>
          <a:bodyPr wrap="square" lIns="0" tIns="0" rIns="0" bIns="0" rtlCol="0" anchor="t"/>
          <a:lstStyle/>
          <a:p>
            <a:pPr algn="ctr" indent="0" marL="0">
              <a:buNone/>
            </a:pPr>
            <a:r>
              <a:rPr lang="en-US" sz="1200" dirty="0">
                <a:solidFill>
                  <a:srgbClr val="5B7185"/>
                </a:solidFill>
                <a:latin typeface="Calibri" pitchFamily="34" charset="0"/>
                <a:ea typeface="Calibri" pitchFamily="34" charset="-122"/>
                <a:cs typeface="Calibri" pitchFamily="34" charset="-120"/>
              </a:rPr>
              <a:t>Query processing and stop-word removal</a:t>
            </a:r>
            <a:endParaRPr lang="en-US" sz="1200" dirty="0"/>
          </a:p>
        </p:txBody>
      </p:sp>
      <p:sp>
        <p:nvSpPr>
          <p:cNvPr id="15" name="Shape 11"/>
          <p:cNvSpPr/>
          <p:nvPr/>
        </p:nvSpPr>
        <p:spPr>
          <a:xfrm>
            <a:off x="4297680" y="2377440"/>
            <a:ext cx="1691640" cy="1874520"/>
          </a:xfrm>
          <a:prstGeom prst="roundRect">
            <a:avLst>
              <a:gd name="adj" fmla="val 6486"/>
            </a:avLst>
          </a:prstGeom>
          <a:solidFill>
            <a:srgbClr val="FFFFFF"/>
          </a:solidFill>
          <a:ln w="9525">
            <a:solidFill>
              <a:srgbClr val="D5E5EE"/>
            </a:solidFill>
            <a:prstDash val="solid"/>
          </a:ln>
          <a:effectLst>
            <a:outerShdw sx="100000" sy="100000" kx="0" ky="0" algn="bl" rotWithShape="0" blurRad="101600" dist="25400" dir="5400000">
              <a:srgbClr val="0B2239">
                <a:alpha val="12000"/>
              </a:srgbClr>
            </a:outerShdw>
          </a:effectLst>
        </p:spPr>
      </p:sp>
      <p:sp>
        <p:nvSpPr>
          <p:cNvPr id="16" name="Shape 12"/>
          <p:cNvSpPr/>
          <p:nvPr/>
        </p:nvSpPr>
        <p:spPr>
          <a:xfrm>
            <a:off x="4869180" y="1691640"/>
            <a:ext cx="548640" cy="548640"/>
          </a:xfrm>
          <a:prstGeom prst="ellipse">
            <a:avLst/>
          </a:prstGeom>
          <a:solidFill>
            <a:srgbClr val="0B6E99"/>
          </a:solidFill>
          <a:ln w="12700">
            <a:solidFill>
              <a:srgbClr val="0B6E99"/>
            </a:solidFill>
            <a:prstDash val="solid"/>
          </a:ln>
        </p:spPr>
      </p:sp>
      <p:pic>
        <p:nvPicPr>
          <p:cNvPr id="17" name="Image 2" descr="preencoded.png">    </p:cNvPr>
          <p:cNvPicPr>
            <a:picLocks noChangeAspect="1"/>
          </p:cNvPicPr>
          <p:nvPr/>
        </p:nvPicPr>
        <p:blipFill>
          <a:blip r:embed="rId3"/>
          <a:stretch>
            <a:fillRect/>
          </a:stretch>
        </p:blipFill>
        <p:spPr>
          <a:xfrm>
            <a:off x="5006340" y="1828800"/>
            <a:ext cx="274320" cy="274320"/>
          </a:xfrm>
          <a:prstGeom prst="rect">
            <a:avLst/>
          </a:prstGeom>
        </p:spPr>
      </p:pic>
      <p:sp>
        <p:nvSpPr>
          <p:cNvPr id="18" name="Text 13"/>
          <p:cNvSpPr txBox="1"/>
          <p:nvPr/>
        </p:nvSpPr>
        <p:spPr>
          <a:xfrm>
            <a:off x="4434840" y="2514600"/>
            <a:ext cx="1417320" cy="274320"/>
          </a:xfrm>
          <a:prstGeom prst="rect">
            <a:avLst/>
          </a:prstGeom>
          <a:noFill/>
          <a:ln/>
        </p:spPr>
        <p:txBody>
          <a:bodyPr wrap="square" lIns="0" tIns="0" rIns="0" bIns="0" rtlCol="0" anchor="t"/>
          <a:lstStyle/>
          <a:p>
            <a:pPr algn="ctr" indent="0" marL="0">
              <a:buNone/>
            </a:pPr>
            <a:r>
              <a:rPr lang="en-US" sz="1400" b="1" dirty="0">
                <a:solidFill>
                  <a:srgbClr val="0B2239"/>
                </a:solidFill>
                <a:latin typeface="Calibri" pitchFamily="34" charset="0"/>
                <a:ea typeface="Calibri" pitchFamily="34" charset="-122"/>
                <a:cs typeface="Calibri" pitchFamily="34" charset="-120"/>
              </a:rPr>
              <a:t>Match &amp; score</a:t>
            </a:r>
            <a:endParaRPr lang="en-US" sz="1400" dirty="0"/>
          </a:p>
        </p:txBody>
      </p:sp>
      <p:sp>
        <p:nvSpPr>
          <p:cNvPr id="19" name="Text 14"/>
          <p:cNvSpPr txBox="1"/>
          <p:nvPr/>
        </p:nvSpPr>
        <p:spPr>
          <a:xfrm>
            <a:off x="4434840" y="2880360"/>
            <a:ext cx="1417320" cy="1280160"/>
          </a:xfrm>
          <a:prstGeom prst="rect">
            <a:avLst/>
          </a:prstGeom>
          <a:noFill/>
          <a:ln/>
        </p:spPr>
        <p:txBody>
          <a:bodyPr wrap="square" lIns="0" tIns="0" rIns="0" bIns="0" rtlCol="0" anchor="t"/>
          <a:lstStyle/>
          <a:p>
            <a:pPr algn="ctr" indent="0" marL="0">
              <a:buNone/>
            </a:pPr>
            <a:r>
              <a:rPr lang="en-US" sz="1200" dirty="0">
                <a:solidFill>
                  <a:srgbClr val="5B7185"/>
                </a:solidFill>
                <a:latin typeface="Calibri" pitchFamily="34" charset="0"/>
                <a:ea typeface="Calibri" pitchFamily="34" charset="-122"/>
                <a:cs typeface="Calibri" pitchFamily="34" charset="-120"/>
              </a:rPr>
              <a:t>Phrase, keyword, synonym and token-similarity scoring over the JSON knowledge base</a:t>
            </a:r>
            <a:endParaRPr lang="en-US" sz="1200" dirty="0"/>
          </a:p>
        </p:txBody>
      </p:sp>
      <p:sp>
        <p:nvSpPr>
          <p:cNvPr id="20" name="Shape 15"/>
          <p:cNvSpPr/>
          <p:nvPr/>
        </p:nvSpPr>
        <p:spPr>
          <a:xfrm>
            <a:off x="6172200" y="2377440"/>
            <a:ext cx="1691640" cy="1874520"/>
          </a:xfrm>
          <a:prstGeom prst="roundRect">
            <a:avLst>
              <a:gd name="adj" fmla="val 6486"/>
            </a:avLst>
          </a:prstGeom>
          <a:solidFill>
            <a:srgbClr val="FFFFFF"/>
          </a:solidFill>
          <a:ln w="9525">
            <a:solidFill>
              <a:srgbClr val="D5E5EE"/>
            </a:solidFill>
            <a:prstDash val="solid"/>
          </a:ln>
          <a:effectLst>
            <a:outerShdw sx="100000" sy="100000" kx="0" ky="0" algn="bl" rotWithShape="0" blurRad="101600" dist="25400" dir="5400000">
              <a:srgbClr val="0B2239">
                <a:alpha val="12000"/>
              </a:srgbClr>
            </a:outerShdw>
          </a:effectLst>
        </p:spPr>
      </p:sp>
      <p:sp>
        <p:nvSpPr>
          <p:cNvPr id="21" name="Shape 16"/>
          <p:cNvSpPr/>
          <p:nvPr/>
        </p:nvSpPr>
        <p:spPr>
          <a:xfrm>
            <a:off x="6743700" y="1691640"/>
            <a:ext cx="548640" cy="548640"/>
          </a:xfrm>
          <a:prstGeom prst="ellipse">
            <a:avLst/>
          </a:prstGeom>
          <a:solidFill>
            <a:srgbClr val="0B6E99"/>
          </a:solidFill>
          <a:ln w="12700">
            <a:solidFill>
              <a:srgbClr val="0B6E99"/>
            </a:solidFill>
            <a:prstDash val="solid"/>
          </a:ln>
        </p:spPr>
      </p:sp>
      <p:pic>
        <p:nvPicPr>
          <p:cNvPr id="22" name="Image 3" descr="preencoded.png">    </p:cNvPr>
          <p:cNvPicPr>
            <a:picLocks noChangeAspect="1"/>
          </p:cNvPicPr>
          <p:nvPr/>
        </p:nvPicPr>
        <p:blipFill>
          <a:blip r:embed="rId4"/>
          <a:stretch>
            <a:fillRect/>
          </a:stretch>
        </p:blipFill>
        <p:spPr>
          <a:xfrm>
            <a:off x="6880860" y="1828800"/>
            <a:ext cx="274320" cy="274320"/>
          </a:xfrm>
          <a:prstGeom prst="rect">
            <a:avLst/>
          </a:prstGeom>
        </p:spPr>
      </p:pic>
      <p:sp>
        <p:nvSpPr>
          <p:cNvPr id="23" name="Text 17"/>
          <p:cNvSpPr txBox="1"/>
          <p:nvPr/>
        </p:nvSpPr>
        <p:spPr>
          <a:xfrm>
            <a:off x="6309360" y="2514600"/>
            <a:ext cx="1417320" cy="274320"/>
          </a:xfrm>
          <a:prstGeom prst="rect">
            <a:avLst/>
          </a:prstGeom>
          <a:noFill/>
          <a:ln/>
        </p:spPr>
        <p:txBody>
          <a:bodyPr wrap="square" lIns="0" tIns="0" rIns="0" bIns="0" rtlCol="0" anchor="t"/>
          <a:lstStyle/>
          <a:p>
            <a:pPr algn="ctr" indent="0" marL="0">
              <a:buNone/>
            </a:pPr>
            <a:r>
              <a:rPr lang="en-US" sz="1400" b="1" dirty="0">
                <a:solidFill>
                  <a:srgbClr val="0B2239"/>
                </a:solidFill>
                <a:latin typeface="Calibri" pitchFamily="34" charset="0"/>
                <a:ea typeface="Calibri" pitchFamily="34" charset="-122"/>
                <a:cs typeface="Calibri" pitchFamily="34" charset="-120"/>
              </a:rPr>
              <a:t>Top 3 entries</a:t>
            </a:r>
            <a:endParaRPr lang="en-US" sz="1400" dirty="0"/>
          </a:p>
        </p:txBody>
      </p:sp>
      <p:sp>
        <p:nvSpPr>
          <p:cNvPr id="24" name="Text 18"/>
          <p:cNvSpPr txBox="1"/>
          <p:nvPr/>
        </p:nvSpPr>
        <p:spPr>
          <a:xfrm>
            <a:off x="6309360" y="2880360"/>
            <a:ext cx="1417320" cy="1280160"/>
          </a:xfrm>
          <a:prstGeom prst="rect">
            <a:avLst/>
          </a:prstGeom>
          <a:noFill/>
          <a:ln/>
        </p:spPr>
        <p:txBody>
          <a:bodyPr wrap="square" lIns="0" tIns="0" rIns="0" bIns="0" rtlCol="0" anchor="t"/>
          <a:lstStyle/>
          <a:p>
            <a:pPr algn="ctr" indent="0" marL="0">
              <a:buNone/>
            </a:pPr>
            <a:r>
              <a:rPr lang="en-US" sz="1200" dirty="0">
                <a:solidFill>
                  <a:srgbClr val="5B7185"/>
                </a:solidFill>
                <a:latin typeface="Calibri" pitchFamily="34" charset="0"/>
                <a:ea typeface="Calibri" pitchFamily="34" charset="-122"/>
                <a:cs typeface="Calibri" pitchFamily="34" charset="-120"/>
              </a:rPr>
              <a:t>Most relevant knowledge entries selected</a:t>
            </a:r>
            <a:endParaRPr lang="en-US" sz="1200" dirty="0"/>
          </a:p>
        </p:txBody>
      </p:sp>
      <p:sp>
        <p:nvSpPr>
          <p:cNvPr id="25" name="Shape 19"/>
          <p:cNvSpPr/>
          <p:nvPr/>
        </p:nvSpPr>
        <p:spPr>
          <a:xfrm>
            <a:off x="8046720" y="2377440"/>
            <a:ext cx="1691640" cy="1874520"/>
          </a:xfrm>
          <a:prstGeom prst="roundRect">
            <a:avLst>
              <a:gd name="adj" fmla="val 6486"/>
            </a:avLst>
          </a:prstGeom>
          <a:solidFill>
            <a:srgbClr val="FFFFFF"/>
          </a:solidFill>
          <a:ln w="9525">
            <a:solidFill>
              <a:srgbClr val="D5E5EE"/>
            </a:solidFill>
            <a:prstDash val="solid"/>
          </a:ln>
          <a:effectLst>
            <a:outerShdw sx="100000" sy="100000" kx="0" ky="0" algn="bl" rotWithShape="0" blurRad="101600" dist="25400" dir="5400000">
              <a:srgbClr val="0B2239">
                <a:alpha val="12000"/>
              </a:srgbClr>
            </a:outerShdw>
          </a:effectLst>
        </p:spPr>
      </p:sp>
      <p:sp>
        <p:nvSpPr>
          <p:cNvPr id="26" name="Shape 20"/>
          <p:cNvSpPr/>
          <p:nvPr/>
        </p:nvSpPr>
        <p:spPr>
          <a:xfrm>
            <a:off x="8618220" y="1691640"/>
            <a:ext cx="548640" cy="548640"/>
          </a:xfrm>
          <a:prstGeom prst="ellipse">
            <a:avLst/>
          </a:prstGeom>
          <a:solidFill>
            <a:srgbClr val="0B6E99"/>
          </a:solidFill>
          <a:ln w="12700">
            <a:solidFill>
              <a:srgbClr val="0B6E99"/>
            </a:solidFill>
            <a:prstDash val="solid"/>
          </a:ln>
        </p:spPr>
      </p:sp>
      <p:pic>
        <p:nvPicPr>
          <p:cNvPr id="27" name="Image 4" descr="preencoded.png">    </p:cNvPr>
          <p:cNvPicPr>
            <a:picLocks noChangeAspect="1"/>
          </p:cNvPicPr>
          <p:nvPr/>
        </p:nvPicPr>
        <p:blipFill>
          <a:blip r:embed="rId5"/>
          <a:stretch>
            <a:fillRect/>
          </a:stretch>
        </p:blipFill>
        <p:spPr>
          <a:xfrm>
            <a:off x="8755380" y="1828800"/>
            <a:ext cx="274320" cy="274320"/>
          </a:xfrm>
          <a:prstGeom prst="rect">
            <a:avLst/>
          </a:prstGeom>
        </p:spPr>
      </p:pic>
      <p:sp>
        <p:nvSpPr>
          <p:cNvPr id="28" name="Text 21"/>
          <p:cNvSpPr txBox="1"/>
          <p:nvPr/>
        </p:nvSpPr>
        <p:spPr>
          <a:xfrm>
            <a:off x="8183880" y="2514600"/>
            <a:ext cx="1417320" cy="274320"/>
          </a:xfrm>
          <a:prstGeom prst="rect">
            <a:avLst/>
          </a:prstGeom>
          <a:noFill/>
          <a:ln/>
        </p:spPr>
        <p:txBody>
          <a:bodyPr wrap="square" lIns="0" tIns="0" rIns="0" bIns="0" rtlCol="0" anchor="t"/>
          <a:lstStyle/>
          <a:p>
            <a:pPr algn="ctr" indent="0" marL="0">
              <a:buNone/>
            </a:pPr>
            <a:r>
              <a:rPr lang="en-US" sz="1400" b="1" dirty="0">
                <a:solidFill>
                  <a:srgbClr val="0B2239"/>
                </a:solidFill>
                <a:latin typeface="Calibri" pitchFamily="34" charset="0"/>
                <a:ea typeface="Calibri" pitchFamily="34" charset="-122"/>
                <a:cs typeface="Calibri" pitchFamily="34" charset="-120"/>
              </a:rPr>
              <a:t>Add profile</a:t>
            </a:r>
            <a:endParaRPr lang="en-US" sz="1400" dirty="0"/>
          </a:p>
        </p:txBody>
      </p:sp>
      <p:sp>
        <p:nvSpPr>
          <p:cNvPr id="29" name="Text 22"/>
          <p:cNvSpPr txBox="1"/>
          <p:nvPr/>
        </p:nvSpPr>
        <p:spPr>
          <a:xfrm>
            <a:off x="8183880" y="2880360"/>
            <a:ext cx="1417320" cy="1280160"/>
          </a:xfrm>
          <a:prstGeom prst="rect">
            <a:avLst/>
          </a:prstGeom>
          <a:noFill/>
          <a:ln/>
        </p:spPr>
        <p:txBody>
          <a:bodyPr wrap="square" lIns="0" tIns="0" rIns="0" bIns="0" rtlCol="0" anchor="t"/>
          <a:lstStyle/>
          <a:p>
            <a:pPr algn="ctr" indent="0" marL="0">
              <a:buNone/>
            </a:pPr>
            <a:r>
              <a:rPr lang="en-US" sz="1200" dirty="0">
                <a:solidFill>
                  <a:srgbClr val="5B7185"/>
                </a:solidFill>
                <a:latin typeface="Calibri" pitchFamily="34" charset="0"/>
                <a:ea typeface="Calibri" pitchFamily="34" charset="-122"/>
                <a:cs typeface="Calibri" pitchFamily="34" charset="-120"/>
              </a:rPr>
              <a:t>User’s water profile + retrieved knowledge form the AI context</a:t>
            </a:r>
            <a:endParaRPr lang="en-US" sz="1200" dirty="0"/>
          </a:p>
        </p:txBody>
      </p:sp>
      <p:sp>
        <p:nvSpPr>
          <p:cNvPr id="30" name="Shape 23"/>
          <p:cNvSpPr/>
          <p:nvPr/>
        </p:nvSpPr>
        <p:spPr>
          <a:xfrm>
            <a:off x="9921240" y="2377440"/>
            <a:ext cx="1691640" cy="1874520"/>
          </a:xfrm>
          <a:prstGeom prst="roundRect">
            <a:avLst>
              <a:gd name="adj" fmla="val 6486"/>
            </a:avLst>
          </a:prstGeom>
          <a:solidFill>
            <a:srgbClr val="FFFFFF"/>
          </a:solidFill>
          <a:ln w="9525">
            <a:solidFill>
              <a:srgbClr val="D5E5EE"/>
            </a:solidFill>
            <a:prstDash val="solid"/>
          </a:ln>
          <a:effectLst>
            <a:outerShdw sx="100000" sy="100000" kx="0" ky="0" algn="bl" rotWithShape="0" blurRad="101600" dist="25400" dir="5400000">
              <a:srgbClr val="0B2239">
                <a:alpha val="12000"/>
              </a:srgbClr>
            </a:outerShdw>
          </a:effectLst>
        </p:spPr>
      </p:sp>
      <p:sp>
        <p:nvSpPr>
          <p:cNvPr id="31" name="Shape 24"/>
          <p:cNvSpPr/>
          <p:nvPr/>
        </p:nvSpPr>
        <p:spPr>
          <a:xfrm>
            <a:off x="10492740" y="1691640"/>
            <a:ext cx="548640" cy="548640"/>
          </a:xfrm>
          <a:prstGeom prst="ellipse">
            <a:avLst/>
          </a:prstGeom>
          <a:solidFill>
            <a:srgbClr val="0FB5A6"/>
          </a:solidFill>
          <a:ln w="12700">
            <a:solidFill>
              <a:srgbClr val="0FB5A6"/>
            </a:solidFill>
            <a:prstDash val="solid"/>
          </a:ln>
        </p:spPr>
      </p:sp>
      <p:pic>
        <p:nvPicPr>
          <p:cNvPr id="32" name="Image 5" descr="preencoded.png">    </p:cNvPr>
          <p:cNvPicPr>
            <a:picLocks noChangeAspect="1"/>
          </p:cNvPicPr>
          <p:nvPr/>
        </p:nvPicPr>
        <p:blipFill>
          <a:blip r:embed="rId6"/>
          <a:stretch>
            <a:fillRect/>
          </a:stretch>
        </p:blipFill>
        <p:spPr>
          <a:xfrm>
            <a:off x="10629900" y="1828800"/>
            <a:ext cx="274320" cy="274320"/>
          </a:xfrm>
          <a:prstGeom prst="rect">
            <a:avLst/>
          </a:prstGeom>
        </p:spPr>
      </p:pic>
      <p:sp>
        <p:nvSpPr>
          <p:cNvPr id="33" name="Text 25"/>
          <p:cNvSpPr txBox="1"/>
          <p:nvPr/>
        </p:nvSpPr>
        <p:spPr>
          <a:xfrm>
            <a:off x="10058400" y="2514600"/>
            <a:ext cx="1417320" cy="274320"/>
          </a:xfrm>
          <a:prstGeom prst="rect">
            <a:avLst/>
          </a:prstGeom>
          <a:noFill/>
          <a:ln/>
        </p:spPr>
        <p:txBody>
          <a:bodyPr wrap="square" lIns="0" tIns="0" rIns="0" bIns="0" rtlCol="0" anchor="t"/>
          <a:lstStyle/>
          <a:p>
            <a:pPr algn="ctr" indent="0" marL="0">
              <a:buNone/>
            </a:pPr>
            <a:r>
              <a:rPr lang="en-US" sz="1400" b="1" dirty="0">
                <a:solidFill>
                  <a:srgbClr val="0B2239"/>
                </a:solidFill>
                <a:latin typeface="Calibri" pitchFamily="34" charset="0"/>
                <a:ea typeface="Calibri" pitchFamily="34" charset="-122"/>
                <a:cs typeface="Calibri" pitchFamily="34" charset="-120"/>
              </a:rPr>
              <a:t>Grounded answer</a:t>
            </a:r>
            <a:endParaRPr lang="en-US" sz="1400" dirty="0"/>
          </a:p>
        </p:txBody>
      </p:sp>
      <p:sp>
        <p:nvSpPr>
          <p:cNvPr id="34" name="Text 26"/>
          <p:cNvSpPr txBox="1"/>
          <p:nvPr/>
        </p:nvSpPr>
        <p:spPr>
          <a:xfrm>
            <a:off x="10058400" y="2880360"/>
            <a:ext cx="1417320" cy="1280160"/>
          </a:xfrm>
          <a:prstGeom prst="rect">
            <a:avLst/>
          </a:prstGeom>
          <a:noFill/>
          <a:ln/>
        </p:spPr>
        <p:txBody>
          <a:bodyPr wrap="square" lIns="0" tIns="0" rIns="0" bIns="0" rtlCol="0" anchor="t"/>
          <a:lstStyle/>
          <a:p>
            <a:pPr algn="ctr" indent="0" marL="0">
              <a:buNone/>
            </a:pPr>
            <a:r>
              <a:rPr lang="en-US" sz="1200" dirty="0">
                <a:solidFill>
                  <a:srgbClr val="5B7185"/>
                </a:solidFill>
                <a:latin typeface="Calibri" pitchFamily="34" charset="0"/>
                <a:ea typeface="Calibri" pitchFamily="34" charset="-122"/>
                <a:cs typeface="Calibri" pitchFamily="34" charset="-120"/>
              </a:rPr>
              <a:t>Personalised advice with sources shown</a:t>
            </a:r>
            <a:endParaRPr lang="en-US" sz="1200" dirty="0"/>
          </a:p>
        </p:txBody>
      </p:sp>
      <p:sp>
        <p:nvSpPr>
          <p:cNvPr id="35" name="Shape 27"/>
          <p:cNvSpPr/>
          <p:nvPr/>
        </p:nvSpPr>
        <p:spPr>
          <a:xfrm>
            <a:off x="548640" y="4526280"/>
            <a:ext cx="3566160" cy="1645920"/>
          </a:xfrm>
          <a:prstGeom prst="roundRect">
            <a:avLst>
              <a:gd name="adj" fmla="val 6667"/>
            </a:avLst>
          </a:prstGeom>
          <a:solidFill>
            <a:srgbClr val="FFFFFF"/>
          </a:solidFill>
          <a:ln w="9525">
            <a:solidFill>
              <a:srgbClr val="D5E5EE"/>
            </a:solidFill>
            <a:prstDash val="solid"/>
          </a:ln>
          <a:effectLst>
            <a:outerShdw sx="100000" sy="100000" kx="0" ky="0" algn="bl" rotWithShape="0" blurRad="101600" dist="25400" dir="5400000">
              <a:srgbClr val="0B2239">
                <a:alpha val="12000"/>
              </a:srgbClr>
            </a:outerShdw>
          </a:effectLst>
        </p:spPr>
      </p:sp>
      <p:sp>
        <p:nvSpPr>
          <p:cNvPr id="36" name="Shape 28"/>
          <p:cNvSpPr/>
          <p:nvPr/>
        </p:nvSpPr>
        <p:spPr>
          <a:xfrm>
            <a:off x="777240" y="4709160"/>
            <a:ext cx="411480" cy="411480"/>
          </a:xfrm>
          <a:prstGeom prst="ellipse">
            <a:avLst/>
          </a:prstGeom>
          <a:solidFill>
            <a:srgbClr val="062A40"/>
          </a:solidFill>
          <a:ln w="12700">
            <a:solidFill>
              <a:srgbClr val="062A40"/>
            </a:solidFill>
            <a:prstDash val="solid"/>
          </a:ln>
        </p:spPr>
      </p:sp>
      <p:pic>
        <p:nvPicPr>
          <p:cNvPr id="37" name="Image 6" descr="preencoded.png">    </p:cNvPr>
          <p:cNvPicPr>
            <a:picLocks noChangeAspect="1"/>
          </p:cNvPicPr>
          <p:nvPr/>
        </p:nvPicPr>
        <p:blipFill>
          <a:blip r:embed="rId7"/>
          <a:stretch>
            <a:fillRect/>
          </a:stretch>
        </p:blipFill>
        <p:spPr>
          <a:xfrm>
            <a:off x="880110" y="4812030"/>
            <a:ext cx="205740" cy="205740"/>
          </a:xfrm>
          <a:prstGeom prst="rect">
            <a:avLst/>
          </a:prstGeom>
        </p:spPr>
      </p:pic>
      <p:sp>
        <p:nvSpPr>
          <p:cNvPr id="38" name="Text 29"/>
          <p:cNvSpPr txBox="1"/>
          <p:nvPr/>
        </p:nvSpPr>
        <p:spPr>
          <a:xfrm>
            <a:off x="1325880" y="4773168"/>
            <a:ext cx="2560320" cy="292608"/>
          </a:xfrm>
          <a:prstGeom prst="rect">
            <a:avLst/>
          </a:prstGeom>
          <a:noFill/>
          <a:ln/>
        </p:spPr>
        <p:txBody>
          <a:bodyPr wrap="square" lIns="0" tIns="0" rIns="0" bIns="0" rtlCol="0" anchor="t"/>
          <a:lstStyle/>
          <a:p>
            <a:pPr indent="0" marL="0">
              <a:buNone/>
            </a:pPr>
            <a:r>
              <a:rPr lang="en-US" sz="1500" b="1" dirty="0">
                <a:solidFill>
                  <a:srgbClr val="0B2239"/>
                </a:solidFill>
                <a:latin typeface="Calibri" pitchFamily="34" charset="0"/>
                <a:ea typeface="Calibri" pitchFamily="34" charset="-122"/>
                <a:cs typeface="Calibri" pitchFamily="34" charset="-120"/>
              </a:rPr>
              <a:t>No vector database</a:t>
            </a:r>
            <a:endParaRPr lang="en-US" sz="1500" dirty="0"/>
          </a:p>
        </p:txBody>
      </p:sp>
      <p:sp>
        <p:nvSpPr>
          <p:cNvPr id="39" name="Text 30"/>
          <p:cNvSpPr txBox="1"/>
          <p:nvPr/>
        </p:nvSpPr>
        <p:spPr>
          <a:xfrm>
            <a:off x="777240" y="5349240"/>
            <a:ext cx="3154680" cy="777240"/>
          </a:xfrm>
          <a:prstGeom prst="rect">
            <a:avLst/>
          </a:prstGeom>
          <a:noFill/>
          <a:ln/>
        </p:spPr>
        <p:txBody>
          <a:bodyPr wrap="square" lIns="0" tIns="0" rIns="0" bIns="0" rtlCol="0" anchor="t"/>
          <a:lstStyle/>
          <a:p>
            <a:pPr indent="0" marL="0">
              <a:buNone/>
            </a:pPr>
            <a:r>
              <a:rPr lang="en-US" sz="1250" dirty="0">
                <a:solidFill>
                  <a:srgbClr val="5B7185"/>
                </a:solidFill>
                <a:latin typeface="Calibri" pitchFamily="34" charset="0"/>
                <a:ea typeface="Calibri" pitchFamily="34" charset="-122"/>
                <a:cs typeface="Calibri" pitchFamily="34" charset="-120"/>
              </a:rPr>
              <a:t>Lightweight local retrieval: tokenisation and relevance scoring over a curated JSON knowledge base.</a:t>
            </a:r>
            <a:endParaRPr lang="en-US" sz="1250" dirty="0"/>
          </a:p>
        </p:txBody>
      </p:sp>
      <p:sp>
        <p:nvSpPr>
          <p:cNvPr id="40" name="Shape 31"/>
          <p:cNvSpPr/>
          <p:nvPr/>
        </p:nvSpPr>
        <p:spPr>
          <a:xfrm>
            <a:off x="4297680" y="4526280"/>
            <a:ext cx="3566160" cy="1645920"/>
          </a:xfrm>
          <a:prstGeom prst="roundRect">
            <a:avLst>
              <a:gd name="adj" fmla="val 6667"/>
            </a:avLst>
          </a:prstGeom>
          <a:solidFill>
            <a:srgbClr val="FFFFFF"/>
          </a:solidFill>
          <a:ln w="9525">
            <a:solidFill>
              <a:srgbClr val="D5E5EE"/>
            </a:solidFill>
            <a:prstDash val="solid"/>
          </a:ln>
          <a:effectLst>
            <a:outerShdw sx="100000" sy="100000" kx="0" ky="0" algn="bl" rotWithShape="0" blurRad="101600" dist="25400" dir="5400000">
              <a:srgbClr val="0B2239">
                <a:alpha val="12000"/>
              </a:srgbClr>
            </a:outerShdw>
          </a:effectLst>
        </p:spPr>
      </p:sp>
      <p:sp>
        <p:nvSpPr>
          <p:cNvPr id="41" name="Shape 32"/>
          <p:cNvSpPr/>
          <p:nvPr/>
        </p:nvSpPr>
        <p:spPr>
          <a:xfrm>
            <a:off x="4526280" y="4709160"/>
            <a:ext cx="411480" cy="411480"/>
          </a:xfrm>
          <a:prstGeom prst="ellipse">
            <a:avLst/>
          </a:prstGeom>
          <a:solidFill>
            <a:srgbClr val="062A40"/>
          </a:solidFill>
          <a:ln w="12700">
            <a:solidFill>
              <a:srgbClr val="062A40"/>
            </a:solidFill>
            <a:prstDash val="solid"/>
          </a:ln>
        </p:spPr>
      </p:sp>
      <p:pic>
        <p:nvPicPr>
          <p:cNvPr id="42" name="Image 7" descr="preencoded.png">    </p:cNvPr>
          <p:cNvPicPr>
            <a:picLocks noChangeAspect="1"/>
          </p:cNvPicPr>
          <p:nvPr/>
        </p:nvPicPr>
        <p:blipFill>
          <a:blip r:embed="rId8"/>
          <a:stretch>
            <a:fillRect/>
          </a:stretch>
        </p:blipFill>
        <p:spPr>
          <a:xfrm>
            <a:off x="4629150" y="4812030"/>
            <a:ext cx="205740" cy="205740"/>
          </a:xfrm>
          <a:prstGeom prst="rect">
            <a:avLst/>
          </a:prstGeom>
        </p:spPr>
      </p:pic>
      <p:sp>
        <p:nvSpPr>
          <p:cNvPr id="43" name="Text 33"/>
          <p:cNvSpPr txBox="1"/>
          <p:nvPr/>
        </p:nvSpPr>
        <p:spPr>
          <a:xfrm>
            <a:off x="5074920" y="4773168"/>
            <a:ext cx="2560320" cy="292608"/>
          </a:xfrm>
          <a:prstGeom prst="rect">
            <a:avLst/>
          </a:prstGeom>
          <a:noFill/>
          <a:ln/>
        </p:spPr>
        <p:txBody>
          <a:bodyPr wrap="square" lIns="0" tIns="0" rIns="0" bIns="0" rtlCol="0" anchor="t"/>
          <a:lstStyle/>
          <a:p>
            <a:pPr indent="0" marL="0">
              <a:buNone/>
            </a:pPr>
            <a:r>
              <a:rPr lang="en-US" sz="1500" b="1" dirty="0">
                <a:solidFill>
                  <a:srgbClr val="0B2239"/>
                </a:solidFill>
                <a:latin typeface="Calibri" pitchFamily="34" charset="0"/>
                <a:ea typeface="Calibri" pitchFamily="34" charset="-122"/>
                <a:cs typeface="Calibri" pitchFamily="34" charset="-120"/>
              </a:rPr>
              <a:t>Why RAG here</a:t>
            </a:r>
            <a:endParaRPr lang="en-US" sz="1500" dirty="0"/>
          </a:p>
        </p:txBody>
      </p:sp>
      <p:sp>
        <p:nvSpPr>
          <p:cNvPr id="44" name="Text 34"/>
          <p:cNvSpPr txBox="1"/>
          <p:nvPr/>
        </p:nvSpPr>
        <p:spPr>
          <a:xfrm>
            <a:off x="4526280" y="5349240"/>
            <a:ext cx="3154680" cy="777240"/>
          </a:xfrm>
          <a:prstGeom prst="rect">
            <a:avLst/>
          </a:prstGeom>
          <a:noFill/>
          <a:ln/>
        </p:spPr>
        <p:txBody>
          <a:bodyPr wrap="square" lIns="0" tIns="0" rIns="0" bIns="0" rtlCol="0" anchor="t"/>
          <a:lstStyle/>
          <a:p>
            <a:pPr indent="0" marL="0">
              <a:buNone/>
            </a:pPr>
            <a:r>
              <a:rPr lang="en-US" sz="1250" dirty="0">
                <a:solidFill>
                  <a:srgbClr val="5B7185"/>
                </a:solidFill>
                <a:latin typeface="Calibri" pitchFamily="34" charset="0"/>
                <a:ea typeface="Calibri" pitchFamily="34" charset="-122"/>
                <a:cs typeface="Calibri" pitchFamily="34" charset="-120"/>
              </a:rPr>
              <a:t>Answers are tied to a defined knowledge source, not an unrestricted chatbot. Retrieved sources are surfaced.</a:t>
            </a:r>
            <a:endParaRPr lang="en-US" sz="1250" dirty="0"/>
          </a:p>
        </p:txBody>
      </p:sp>
      <p:sp>
        <p:nvSpPr>
          <p:cNvPr id="45" name="Shape 35"/>
          <p:cNvSpPr/>
          <p:nvPr/>
        </p:nvSpPr>
        <p:spPr>
          <a:xfrm>
            <a:off x="8046720" y="4526280"/>
            <a:ext cx="3566160" cy="1645920"/>
          </a:xfrm>
          <a:prstGeom prst="roundRect">
            <a:avLst>
              <a:gd name="adj" fmla="val 6667"/>
            </a:avLst>
          </a:prstGeom>
          <a:solidFill>
            <a:srgbClr val="FFFFFF"/>
          </a:solidFill>
          <a:ln w="9525">
            <a:solidFill>
              <a:srgbClr val="D5E5EE"/>
            </a:solidFill>
            <a:prstDash val="solid"/>
          </a:ln>
          <a:effectLst>
            <a:outerShdw sx="100000" sy="100000" kx="0" ky="0" algn="bl" rotWithShape="0" blurRad="101600" dist="25400" dir="5400000">
              <a:srgbClr val="0B2239">
                <a:alpha val="12000"/>
              </a:srgbClr>
            </a:outerShdw>
          </a:effectLst>
        </p:spPr>
      </p:sp>
      <p:sp>
        <p:nvSpPr>
          <p:cNvPr id="46" name="Shape 36"/>
          <p:cNvSpPr/>
          <p:nvPr/>
        </p:nvSpPr>
        <p:spPr>
          <a:xfrm>
            <a:off x="8275320" y="4709160"/>
            <a:ext cx="411480" cy="411480"/>
          </a:xfrm>
          <a:prstGeom prst="ellipse">
            <a:avLst/>
          </a:prstGeom>
          <a:solidFill>
            <a:srgbClr val="062A40"/>
          </a:solidFill>
          <a:ln w="12700">
            <a:solidFill>
              <a:srgbClr val="062A40"/>
            </a:solidFill>
            <a:prstDash val="solid"/>
          </a:ln>
        </p:spPr>
      </p:sp>
      <p:pic>
        <p:nvPicPr>
          <p:cNvPr id="47" name="Image 8" descr="preencoded.png">    </p:cNvPr>
          <p:cNvPicPr>
            <a:picLocks noChangeAspect="1"/>
          </p:cNvPicPr>
          <p:nvPr/>
        </p:nvPicPr>
        <p:blipFill>
          <a:blip r:embed="rId9"/>
          <a:stretch>
            <a:fillRect/>
          </a:stretch>
        </p:blipFill>
        <p:spPr>
          <a:xfrm>
            <a:off x="8378190" y="4812030"/>
            <a:ext cx="205740" cy="205740"/>
          </a:xfrm>
          <a:prstGeom prst="rect">
            <a:avLst/>
          </a:prstGeom>
        </p:spPr>
      </p:pic>
      <p:sp>
        <p:nvSpPr>
          <p:cNvPr id="48" name="Text 37"/>
          <p:cNvSpPr txBox="1"/>
          <p:nvPr/>
        </p:nvSpPr>
        <p:spPr>
          <a:xfrm>
            <a:off x="8823960" y="4773168"/>
            <a:ext cx="2560320" cy="292608"/>
          </a:xfrm>
          <a:prstGeom prst="rect">
            <a:avLst/>
          </a:prstGeom>
          <a:noFill/>
          <a:ln/>
        </p:spPr>
        <p:txBody>
          <a:bodyPr wrap="square" lIns="0" tIns="0" rIns="0" bIns="0" rtlCol="0" anchor="t"/>
          <a:lstStyle/>
          <a:p>
            <a:pPr indent="0" marL="0">
              <a:buNone/>
            </a:pPr>
            <a:r>
              <a:rPr lang="en-US" sz="1500" b="1" dirty="0">
                <a:solidFill>
                  <a:srgbClr val="0B2239"/>
                </a:solidFill>
                <a:latin typeface="Calibri" pitchFamily="34" charset="0"/>
                <a:ea typeface="Calibri" pitchFamily="34" charset="-122"/>
                <a:cs typeface="Calibri" pitchFamily="34" charset="-120"/>
              </a:rPr>
              <a:t>If the AI API fails</a:t>
            </a:r>
            <a:endParaRPr lang="en-US" sz="1500" dirty="0"/>
          </a:p>
        </p:txBody>
      </p:sp>
      <p:sp>
        <p:nvSpPr>
          <p:cNvPr id="49" name="Text 38"/>
          <p:cNvSpPr txBox="1"/>
          <p:nvPr/>
        </p:nvSpPr>
        <p:spPr>
          <a:xfrm>
            <a:off x="8275320" y="5349240"/>
            <a:ext cx="3154680" cy="777240"/>
          </a:xfrm>
          <a:prstGeom prst="rect">
            <a:avLst/>
          </a:prstGeom>
          <a:noFill/>
          <a:ln/>
        </p:spPr>
        <p:txBody>
          <a:bodyPr wrap="square" lIns="0" tIns="0" rIns="0" bIns="0" rtlCol="0" anchor="t"/>
          <a:lstStyle/>
          <a:p>
            <a:pPr indent="0" marL="0">
              <a:buNone/>
            </a:pPr>
            <a:r>
              <a:rPr lang="en-US" sz="1250" dirty="0">
                <a:solidFill>
                  <a:srgbClr val="5B7185"/>
                </a:solidFill>
                <a:latin typeface="Calibri" pitchFamily="34" charset="0"/>
                <a:ea typeface="Calibri" pitchFamily="34" charset="-122"/>
                <a:cs typeface="Calibri" pitchFamily="34" charset="-120"/>
              </a:rPr>
              <a:t>The Smart Local Heuristic Engine still gives profile-aware answers from the local knowledge base.</a:t>
            </a:r>
            <a:endParaRPr lang="en-US" sz="1250" dirty="0"/>
          </a:p>
        </p:txBody>
      </p:sp>
      <p:sp>
        <p:nvSpPr>
          <p:cNvPr id="50" name="Text 39"/>
          <p:cNvSpPr txBox="1"/>
          <p:nvPr/>
        </p:nvSpPr>
        <p:spPr>
          <a:xfrm>
            <a:off x="548640" y="6510528"/>
            <a:ext cx="5486400" cy="228600"/>
          </a:xfrm>
          <a:prstGeom prst="rect">
            <a:avLst/>
          </a:prstGeom>
          <a:noFill/>
          <a:ln/>
        </p:spPr>
        <p:txBody>
          <a:bodyPr wrap="square" lIns="0" tIns="0" rIns="0" bIns="0" rtlCol="0" anchor="t"/>
          <a:lstStyle/>
          <a:p>
            <a:pPr indent="0" marL="0">
              <a:buNone/>
            </a:pPr>
            <a:r>
              <a:rPr lang="en-US" sz="1000" dirty="0">
                <a:solidFill>
                  <a:srgbClr val="5B7185"/>
                </a:solidFill>
                <a:latin typeface="Calibri" pitchFamily="34" charset="0"/>
                <a:ea typeface="Calibri" pitchFamily="34" charset="-122"/>
                <a:cs typeface="Calibri" pitchFamily="34" charset="-120"/>
              </a:rPr>
              <a:t>Smart Water Usage Advisor  |  SDG 6.4</a:t>
            </a:r>
            <a:endParaRPr lang="en-US" sz="1000" dirty="0"/>
          </a:p>
        </p:txBody>
      </p:sp>
      <p:sp>
        <p:nvSpPr>
          <p:cNvPr id="51" name="Text 40"/>
          <p:cNvSpPr txBox="1"/>
          <p:nvPr/>
        </p:nvSpPr>
        <p:spPr>
          <a:xfrm>
            <a:off x="10725912" y="6510528"/>
            <a:ext cx="914400" cy="228600"/>
          </a:xfrm>
          <a:prstGeom prst="rect">
            <a:avLst/>
          </a:prstGeom>
          <a:noFill/>
          <a:ln/>
        </p:spPr>
        <p:txBody>
          <a:bodyPr wrap="square" lIns="0" tIns="0" rIns="0" bIns="0" rtlCol="0" anchor="t"/>
          <a:lstStyle/>
          <a:p>
            <a:pPr algn="r" indent="0" marL="0">
              <a:buNone/>
            </a:pPr>
            <a:r>
              <a:rPr lang="en-US" sz="1000" dirty="0">
                <a:solidFill>
                  <a:srgbClr val="5B7185"/>
                </a:solidFill>
                <a:latin typeface="Calibri" pitchFamily="34" charset="0"/>
                <a:ea typeface="Calibri" pitchFamily="34" charset="-122"/>
                <a:cs typeface="Calibri" pitchFamily="34" charset="-120"/>
              </a:rPr>
              <a:t>5 / 9</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2F8FB"/>
        </a:solidFill>
      </p:bgPr>
    </p:bg>
    <p:spTree>
      <p:nvGrpSpPr>
        <p:cNvPr id="1" name=""/>
        <p:cNvGrpSpPr/>
        <p:nvPr/>
      </p:nvGrpSpPr>
      <p:grpSpPr>
        <a:xfrm>
          <a:off x="0" y="0"/>
          <a:ext cx="0" cy="0"/>
          <a:chOff x="0" y="0"/>
          <a:chExt cx="0" cy="0"/>
        </a:xfrm>
      </p:grpSpPr>
      <p:sp>
        <p:nvSpPr>
          <p:cNvPr id="2" name="Text 0"/>
          <p:cNvSpPr txBox="1"/>
          <p:nvPr/>
        </p:nvSpPr>
        <p:spPr>
          <a:xfrm>
            <a:off x="548640" y="365760"/>
            <a:ext cx="7315200" cy="274320"/>
          </a:xfrm>
          <a:prstGeom prst="rect">
            <a:avLst/>
          </a:prstGeom>
          <a:noFill/>
          <a:ln/>
        </p:spPr>
        <p:txBody>
          <a:bodyPr wrap="square" lIns="0" tIns="0" rIns="0" bIns="0" rtlCol="0" anchor="t"/>
          <a:lstStyle/>
          <a:p>
            <a:pPr indent="0" marL="0">
              <a:buNone/>
            </a:pPr>
            <a:r>
              <a:rPr lang="en-US" sz="1200" b="1" spc="300" kern="0" dirty="0">
                <a:solidFill>
                  <a:srgbClr val="0FB5A6"/>
                </a:solidFill>
                <a:latin typeface="Calibri" pitchFamily="34" charset="0"/>
                <a:ea typeface="Calibri" pitchFamily="34" charset="-122"/>
                <a:cs typeface="Calibri" pitchFamily="34" charset="-120"/>
              </a:rPr>
              <a:t>05  PROTOTYPE · ASSESSMENT</a:t>
            </a:r>
            <a:endParaRPr lang="en-US" sz="1200" dirty="0"/>
          </a:p>
        </p:txBody>
      </p:sp>
      <p:sp>
        <p:nvSpPr>
          <p:cNvPr id="3" name="Text 1"/>
          <p:cNvSpPr txBox="1"/>
          <p:nvPr/>
        </p:nvSpPr>
        <p:spPr>
          <a:xfrm>
            <a:off x="548640" y="658368"/>
            <a:ext cx="11064240" cy="640080"/>
          </a:xfrm>
          <a:prstGeom prst="rect">
            <a:avLst/>
          </a:prstGeom>
          <a:noFill/>
          <a:ln/>
        </p:spPr>
        <p:txBody>
          <a:bodyPr wrap="square" lIns="0" tIns="0" rIns="0" bIns="0" rtlCol="0" anchor="t"/>
          <a:lstStyle/>
          <a:p>
            <a:pPr indent="0" marL="0">
              <a:buNone/>
            </a:pPr>
            <a:r>
              <a:rPr lang="en-US" sz="3200" b="1" dirty="0">
                <a:solidFill>
                  <a:srgbClr val="0B2239"/>
                </a:solidFill>
                <a:latin typeface="Cambria" pitchFamily="34" charset="0"/>
                <a:ea typeface="Cambria" pitchFamily="34" charset="-122"/>
                <a:cs typeface="Cambria" pitchFamily="34" charset="-120"/>
              </a:rPr>
              <a:t>A Guided 3-Step Assessment</a:t>
            </a:r>
            <a:endParaRPr lang="en-US" sz="3200" dirty="0"/>
          </a:p>
        </p:txBody>
      </p:sp>
      <p:sp>
        <p:nvSpPr>
          <p:cNvPr id="4" name="Shape 2"/>
          <p:cNvSpPr/>
          <p:nvPr/>
        </p:nvSpPr>
        <p:spPr>
          <a:xfrm>
            <a:off x="493776" y="1453896"/>
            <a:ext cx="7150608" cy="3551603"/>
          </a:xfrm>
          <a:prstGeom prst="roundRect">
            <a:avLst>
              <a:gd name="adj" fmla="val 2060"/>
            </a:avLst>
          </a:prstGeom>
          <a:solidFill>
            <a:srgbClr val="FFFFFF"/>
          </a:solidFill>
          <a:ln w="9525">
            <a:solidFill>
              <a:srgbClr val="D5E5EE"/>
            </a:solidFill>
            <a:prstDash val="solid"/>
          </a:ln>
          <a:effectLst>
            <a:outerShdw sx="100000" sy="100000" kx="0" ky="0" algn="bl" rotWithShape="0" blurRad="101600" dist="25400" dir="5400000">
              <a:srgbClr val="0B2239">
                <a:alpha val="12000"/>
              </a:srgbClr>
            </a:outerShdw>
          </a:effectLst>
        </p:spPr>
      </p:sp>
      <p:pic>
        <p:nvPicPr>
          <p:cNvPr id="5" name="Image 0" descr="/mnt/user-data/uploads/Screenshot_2026-09-20_120807.png">    </p:cNvPr>
          <p:cNvPicPr>
            <a:picLocks noChangeAspect="1"/>
          </p:cNvPicPr>
          <p:nvPr/>
        </p:nvPicPr>
        <p:blipFill>
          <a:blip r:embed="rId1"/>
          <a:stretch>
            <a:fillRect/>
          </a:stretch>
        </p:blipFill>
        <p:spPr>
          <a:xfrm>
            <a:off x="548640" y="1508760"/>
            <a:ext cx="7040880" cy="3441875"/>
          </a:xfrm>
          <a:prstGeom prst="rect">
            <a:avLst/>
          </a:prstGeom>
        </p:spPr>
      </p:pic>
      <p:sp>
        <p:nvSpPr>
          <p:cNvPr id="6" name="Shape 3"/>
          <p:cNvSpPr/>
          <p:nvPr/>
        </p:nvSpPr>
        <p:spPr>
          <a:xfrm>
            <a:off x="548640" y="5074920"/>
            <a:ext cx="384048" cy="384048"/>
          </a:xfrm>
          <a:prstGeom prst="ellipse">
            <a:avLst/>
          </a:prstGeom>
          <a:solidFill>
            <a:srgbClr val="0B6E99"/>
          </a:solidFill>
          <a:ln w="12700">
            <a:solidFill>
              <a:srgbClr val="0B6E99"/>
            </a:solidFill>
            <a:prstDash val="solid"/>
          </a:ln>
        </p:spPr>
      </p:sp>
      <p:pic>
        <p:nvPicPr>
          <p:cNvPr id="7" name="Image 1" descr="preencoded.png">    </p:cNvPr>
          <p:cNvPicPr>
            <a:picLocks noChangeAspect="1"/>
          </p:cNvPicPr>
          <p:nvPr/>
        </p:nvPicPr>
        <p:blipFill>
          <a:blip r:embed="rId2"/>
          <a:stretch>
            <a:fillRect/>
          </a:stretch>
        </p:blipFill>
        <p:spPr>
          <a:xfrm>
            <a:off x="644652" y="5170932"/>
            <a:ext cx="192024" cy="192024"/>
          </a:xfrm>
          <a:prstGeom prst="rect">
            <a:avLst/>
          </a:prstGeom>
        </p:spPr>
      </p:pic>
      <p:sp>
        <p:nvSpPr>
          <p:cNvPr id="8" name="Text 4"/>
          <p:cNvSpPr txBox="1"/>
          <p:nvPr/>
        </p:nvSpPr>
        <p:spPr>
          <a:xfrm>
            <a:off x="1051560" y="5029200"/>
            <a:ext cx="5486400" cy="292608"/>
          </a:xfrm>
          <a:prstGeom prst="rect">
            <a:avLst/>
          </a:prstGeom>
          <a:noFill/>
          <a:ln/>
        </p:spPr>
        <p:txBody>
          <a:bodyPr wrap="square" lIns="0" tIns="0" rIns="0" bIns="0" rtlCol="0" anchor="t"/>
          <a:lstStyle/>
          <a:p>
            <a:pPr indent="0" marL="0">
              <a:buNone/>
            </a:pPr>
            <a:r>
              <a:rPr lang="en-US" sz="1600" b="1" dirty="0">
                <a:solidFill>
                  <a:srgbClr val="0B2239"/>
                </a:solidFill>
                <a:latin typeface="Calibri" pitchFamily="34" charset="0"/>
                <a:ea typeface="Calibri" pitchFamily="34" charset="-122"/>
                <a:cs typeface="Calibri" pitchFamily="34" charset="-120"/>
              </a:rPr>
              <a:t>1  Household &amp; Bathing</a:t>
            </a:r>
            <a:endParaRPr lang="en-US" sz="1600" dirty="0"/>
          </a:p>
        </p:txBody>
      </p:sp>
      <p:sp>
        <p:nvSpPr>
          <p:cNvPr id="9" name="Text 5"/>
          <p:cNvSpPr txBox="1"/>
          <p:nvPr/>
        </p:nvSpPr>
        <p:spPr>
          <a:xfrm>
            <a:off x="1051560" y="5349240"/>
            <a:ext cx="6492240" cy="457200"/>
          </a:xfrm>
          <a:prstGeom prst="rect">
            <a:avLst/>
          </a:prstGeom>
          <a:noFill/>
          <a:ln/>
        </p:spPr>
        <p:txBody>
          <a:bodyPr wrap="square" lIns="0" tIns="0" rIns="0" bIns="0" rtlCol="0" anchor="t"/>
          <a:lstStyle/>
          <a:p>
            <a:pPr indent="0" marL="0">
              <a:buNone/>
            </a:pPr>
            <a:r>
              <a:rPr lang="en-US" sz="1300" dirty="0">
                <a:solidFill>
                  <a:srgbClr val="5B7185"/>
                </a:solidFill>
                <a:latin typeface="Calibri" pitchFamily="34" charset="0"/>
                <a:ea typeface="Calibri" pitchFamily="34" charset="-122"/>
                <a:cs typeface="Calibri" pitchFamily="34" charset="-120"/>
              </a:rPr>
              <a:t>Occupants, bathrooms, dwelling type and shower duration (est. flow ≈ 9.5 L/min).</a:t>
            </a:r>
            <a:endParaRPr lang="en-US" sz="1300" dirty="0"/>
          </a:p>
        </p:txBody>
      </p:sp>
      <p:sp>
        <p:nvSpPr>
          <p:cNvPr id="10" name="Shape 6"/>
          <p:cNvSpPr/>
          <p:nvPr/>
        </p:nvSpPr>
        <p:spPr>
          <a:xfrm>
            <a:off x="548640" y="5852160"/>
            <a:ext cx="7040880" cy="365760"/>
          </a:xfrm>
          <a:prstGeom prst="roundRect">
            <a:avLst>
              <a:gd name="adj" fmla="val 50000"/>
            </a:avLst>
          </a:prstGeom>
          <a:solidFill>
            <a:srgbClr val="E3F1F7"/>
          </a:solidFill>
          <a:ln w="12700">
            <a:solidFill>
              <a:srgbClr val="E3F1F7"/>
            </a:solidFill>
            <a:prstDash val="solid"/>
          </a:ln>
        </p:spPr>
      </p:sp>
      <p:sp>
        <p:nvSpPr>
          <p:cNvPr id="11" name="Text 7"/>
          <p:cNvSpPr txBox="1"/>
          <p:nvPr/>
        </p:nvSpPr>
        <p:spPr>
          <a:xfrm>
            <a:off x="548640" y="5852160"/>
            <a:ext cx="7040880" cy="365760"/>
          </a:xfrm>
          <a:prstGeom prst="rect">
            <a:avLst/>
          </a:prstGeom>
          <a:noFill/>
          <a:ln/>
        </p:spPr>
        <p:txBody>
          <a:bodyPr wrap="square" lIns="0" tIns="0" rIns="0" bIns="0" rtlCol="0" anchor="ctr"/>
          <a:lstStyle/>
          <a:p>
            <a:pPr algn="ctr" indent="0" marL="0">
              <a:buNone/>
            </a:pPr>
            <a:r>
              <a:rPr lang="en-US" sz="1200" b="1" dirty="0">
                <a:solidFill>
                  <a:srgbClr val="0B6E99"/>
                </a:solidFill>
                <a:latin typeface="Calibri" pitchFamily="34" charset="0"/>
                <a:ea typeface="Calibri" pitchFamily="34" charset="-122"/>
                <a:cs typeface="Calibri" pitchFamily="34" charset="-120"/>
              </a:rPr>
              <a:t>Sample input: 6 people · 3 bathrooms · independent house · 9-min showers</a:t>
            </a:r>
            <a:endParaRPr lang="en-US" sz="1200" dirty="0"/>
          </a:p>
        </p:txBody>
      </p:sp>
      <p:sp>
        <p:nvSpPr>
          <p:cNvPr id="12" name="Shape 8"/>
          <p:cNvSpPr/>
          <p:nvPr/>
        </p:nvSpPr>
        <p:spPr>
          <a:xfrm>
            <a:off x="7900416" y="1453896"/>
            <a:ext cx="3767328" cy="1894823"/>
          </a:xfrm>
          <a:prstGeom prst="roundRect">
            <a:avLst>
              <a:gd name="adj" fmla="val 3861"/>
            </a:avLst>
          </a:prstGeom>
          <a:solidFill>
            <a:srgbClr val="FFFFFF"/>
          </a:solidFill>
          <a:ln w="9525">
            <a:solidFill>
              <a:srgbClr val="D5E5EE"/>
            </a:solidFill>
            <a:prstDash val="solid"/>
          </a:ln>
          <a:effectLst>
            <a:outerShdw sx="100000" sy="100000" kx="0" ky="0" algn="bl" rotWithShape="0" blurRad="101600" dist="25400" dir="5400000">
              <a:srgbClr val="0B2239">
                <a:alpha val="12000"/>
              </a:srgbClr>
            </a:outerShdw>
          </a:effectLst>
        </p:spPr>
      </p:sp>
      <p:pic>
        <p:nvPicPr>
          <p:cNvPr id="13" name="Image 2" descr="/mnt/user-data/uploads/Screenshot_2026-09-20_120859.png">    </p:cNvPr>
          <p:cNvPicPr>
            <a:picLocks noChangeAspect="1"/>
          </p:cNvPicPr>
          <p:nvPr/>
        </p:nvPicPr>
        <p:blipFill>
          <a:blip r:embed="rId3"/>
          <a:stretch>
            <a:fillRect/>
          </a:stretch>
        </p:blipFill>
        <p:spPr>
          <a:xfrm>
            <a:off x="7955280" y="1508760"/>
            <a:ext cx="3657600" cy="1785095"/>
          </a:xfrm>
          <a:prstGeom prst="rect">
            <a:avLst/>
          </a:prstGeom>
        </p:spPr>
      </p:pic>
      <p:sp>
        <p:nvSpPr>
          <p:cNvPr id="14" name="Shape 9"/>
          <p:cNvSpPr/>
          <p:nvPr/>
        </p:nvSpPr>
        <p:spPr>
          <a:xfrm>
            <a:off x="7955280" y="3401568"/>
            <a:ext cx="365760" cy="365760"/>
          </a:xfrm>
          <a:prstGeom prst="ellipse">
            <a:avLst/>
          </a:prstGeom>
          <a:solidFill>
            <a:srgbClr val="0FB5A6"/>
          </a:solidFill>
          <a:ln w="12700">
            <a:solidFill>
              <a:srgbClr val="0FB5A6"/>
            </a:solidFill>
            <a:prstDash val="solid"/>
          </a:ln>
        </p:spPr>
      </p:sp>
      <p:pic>
        <p:nvPicPr>
          <p:cNvPr id="15" name="Image 3" descr="preencoded.png">    </p:cNvPr>
          <p:cNvPicPr>
            <a:picLocks noChangeAspect="1"/>
          </p:cNvPicPr>
          <p:nvPr/>
        </p:nvPicPr>
        <p:blipFill>
          <a:blip r:embed="rId4"/>
          <a:stretch>
            <a:fillRect/>
          </a:stretch>
        </p:blipFill>
        <p:spPr>
          <a:xfrm>
            <a:off x="8046720" y="3493008"/>
            <a:ext cx="182880" cy="182880"/>
          </a:xfrm>
          <a:prstGeom prst="rect">
            <a:avLst/>
          </a:prstGeom>
        </p:spPr>
      </p:pic>
      <p:sp>
        <p:nvSpPr>
          <p:cNvPr id="16" name="Text 10"/>
          <p:cNvSpPr txBox="1"/>
          <p:nvPr/>
        </p:nvSpPr>
        <p:spPr>
          <a:xfrm>
            <a:off x="8458200" y="3364992"/>
            <a:ext cx="3108960" cy="256032"/>
          </a:xfrm>
          <a:prstGeom prst="rect">
            <a:avLst/>
          </a:prstGeom>
          <a:noFill/>
          <a:ln/>
        </p:spPr>
        <p:txBody>
          <a:bodyPr wrap="square" lIns="0" tIns="0" rIns="0" bIns="0" rtlCol="0" anchor="t"/>
          <a:lstStyle/>
          <a:p>
            <a:pPr indent="0" marL="0">
              <a:buNone/>
            </a:pPr>
            <a:r>
              <a:rPr lang="en-US" sz="1400" b="1" dirty="0">
                <a:solidFill>
                  <a:srgbClr val="0B2239"/>
                </a:solidFill>
                <a:latin typeface="Calibri" pitchFamily="34" charset="0"/>
                <a:ea typeface="Calibri" pitchFamily="34" charset="-122"/>
                <a:cs typeface="Calibri" pitchFamily="34" charset="-120"/>
              </a:rPr>
              <a:t>2  Sanitation &amp; Kitchen</a:t>
            </a:r>
            <a:endParaRPr lang="en-US" sz="1400" dirty="0"/>
          </a:p>
        </p:txBody>
      </p:sp>
      <p:sp>
        <p:nvSpPr>
          <p:cNvPr id="17" name="Text 11"/>
          <p:cNvSpPr txBox="1"/>
          <p:nvPr/>
        </p:nvSpPr>
        <p:spPr>
          <a:xfrm>
            <a:off x="8458200" y="3630168"/>
            <a:ext cx="3154680" cy="365760"/>
          </a:xfrm>
          <a:prstGeom prst="rect">
            <a:avLst/>
          </a:prstGeom>
          <a:noFill/>
          <a:ln/>
        </p:spPr>
        <p:txBody>
          <a:bodyPr wrap="square" lIns="0" tIns="0" rIns="0" bIns="0" rtlCol="0" anchor="t"/>
          <a:lstStyle/>
          <a:p>
            <a:pPr indent="0" marL="0">
              <a:buNone/>
            </a:pPr>
            <a:r>
              <a:rPr lang="en-US" sz="1200" dirty="0">
                <a:solidFill>
                  <a:srgbClr val="5B7185"/>
                </a:solidFill>
                <a:latin typeface="Calibri" pitchFamily="34" charset="0"/>
                <a:ea typeface="Calibri" pitchFamily="34" charset="-122"/>
                <a:cs typeface="Calibri" pitchFamily="34" charset="-120"/>
              </a:rPr>
              <a:t>Flushes per person, cistern type, kitchen habits.</a:t>
            </a:r>
            <a:endParaRPr lang="en-US" sz="1200" dirty="0"/>
          </a:p>
        </p:txBody>
      </p:sp>
      <p:sp>
        <p:nvSpPr>
          <p:cNvPr id="18" name="Shape 12"/>
          <p:cNvSpPr/>
          <p:nvPr/>
        </p:nvSpPr>
        <p:spPr>
          <a:xfrm>
            <a:off x="7900416" y="4105656"/>
            <a:ext cx="3767328" cy="1877341"/>
          </a:xfrm>
          <a:prstGeom prst="roundRect">
            <a:avLst>
              <a:gd name="adj" fmla="val 3897"/>
            </a:avLst>
          </a:prstGeom>
          <a:solidFill>
            <a:srgbClr val="FFFFFF"/>
          </a:solidFill>
          <a:ln w="9525">
            <a:solidFill>
              <a:srgbClr val="D5E5EE"/>
            </a:solidFill>
            <a:prstDash val="solid"/>
          </a:ln>
          <a:effectLst>
            <a:outerShdw sx="100000" sy="100000" kx="0" ky="0" algn="bl" rotWithShape="0" blurRad="101600" dist="25400" dir="5400000">
              <a:srgbClr val="0B2239">
                <a:alpha val="12000"/>
              </a:srgbClr>
            </a:outerShdw>
          </a:effectLst>
        </p:spPr>
      </p:sp>
      <p:pic>
        <p:nvPicPr>
          <p:cNvPr id="19" name="Image 4" descr="/mnt/user-data/uploads/Screenshot_2026-09-20_120931.png">    </p:cNvPr>
          <p:cNvPicPr>
            <a:picLocks noChangeAspect="1"/>
          </p:cNvPicPr>
          <p:nvPr/>
        </p:nvPicPr>
        <p:blipFill>
          <a:blip r:embed="rId5"/>
          <a:stretch>
            <a:fillRect/>
          </a:stretch>
        </p:blipFill>
        <p:spPr>
          <a:xfrm>
            <a:off x="7955280" y="4160520"/>
            <a:ext cx="3657600" cy="1767613"/>
          </a:xfrm>
          <a:prstGeom prst="rect">
            <a:avLst/>
          </a:prstGeom>
        </p:spPr>
      </p:pic>
      <p:sp>
        <p:nvSpPr>
          <p:cNvPr id="20" name="Shape 13"/>
          <p:cNvSpPr/>
          <p:nvPr/>
        </p:nvSpPr>
        <p:spPr>
          <a:xfrm>
            <a:off x="7955280" y="6053328"/>
            <a:ext cx="365760" cy="365760"/>
          </a:xfrm>
          <a:prstGeom prst="ellipse">
            <a:avLst/>
          </a:prstGeom>
          <a:solidFill>
            <a:srgbClr val="0B6E99"/>
          </a:solidFill>
          <a:ln w="12700">
            <a:solidFill>
              <a:srgbClr val="0B6E99"/>
            </a:solidFill>
            <a:prstDash val="solid"/>
          </a:ln>
        </p:spPr>
      </p:sp>
      <p:pic>
        <p:nvPicPr>
          <p:cNvPr id="21" name="Image 5" descr="preencoded.png">    </p:cNvPr>
          <p:cNvPicPr>
            <a:picLocks noChangeAspect="1"/>
          </p:cNvPicPr>
          <p:nvPr/>
        </p:nvPicPr>
        <p:blipFill>
          <a:blip r:embed="rId6"/>
          <a:stretch>
            <a:fillRect/>
          </a:stretch>
        </p:blipFill>
        <p:spPr>
          <a:xfrm>
            <a:off x="8046720" y="6144768"/>
            <a:ext cx="182880" cy="182880"/>
          </a:xfrm>
          <a:prstGeom prst="rect">
            <a:avLst/>
          </a:prstGeom>
        </p:spPr>
      </p:pic>
      <p:sp>
        <p:nvSpPr>
          <p:cNvPr id="22" name="Text 14"/>
          <p:cNvSpPr txBox="1"/>
          <p:nvPr/>
        </p:nvSpPr>
        <p:spPr>
          <a:xfrm>
            <a:off x="8458200" y="6016752"/>
            <a:ext cx="3108960" cy="256032"/>
          </a:xfrm>
          <a:prstGeom prst="rect">
            <a:avLst/>
          </a:prstGeom>
          <a:noFill/>
          <a:ln/>
        </p:spPr>
        <p:txBody>
          <a:bodyPr wrap="square" lIns="0" tIns="0" rIns="0" bIns="0" rtlCol="0" anchor="t"/>
          <a:lstStyle/>
          <a:p>
            <a:pPr indent="0" marL="0">
              <a:buNone/>
            </a:pPr>
            <a:r>
              <a:rPr lang="en-US" sz="1400" b="1" dirty="0">
                <a:solidFill>
                  <a:srgbClr val="0B2239"/>
                </a:solidFill>
                <a:latin typeface="Calibri" pitchFamily="34" charset="0"/>
                <a:ea typeface="Calibri" pitchFamily="34" charset="-122"/>
                <a:cs typeface="Calibri" pitchFamily="34" charset="-120"/>
              </a:rPr>
              <a:t>3  Laundry, Cleaning &amp; Leaks</a:t>
            </a:r>
            <a:endParaRPr lang="en-US" sz="1400" dirty="0"/>
          </a:p>
        </p:txBody>
      </p:sp>
      <p:sp>
        <p:nvSpPr>
          <p:cNvPr id="23" name="Text 15"/>
          <p:cNvSpPr txBox="1"/>
          <p:nvPr/>
        </p:nvSpPr>
        <p:spPr>
          <a:xfrm>
            <a:off x="8458200" y="6281928"/>
            <a:ext cx="3154680" cy="228600"/>
          </a:xfrm>
          <a:prstGeom prst="rect">
            <a:avLst/>
          </a:prstGeom>
          <a:noFill/>
          <a:ln/>
        </p:spPr>
        <p:txBody>
          <a:bodyPr wrap="square" lIns="0" tIns="0" rIns="0" bIns="0" rtlCol="0" anchor="t"/>
          <a:lstStyle/>
          <a:p>
            <a:pPr indent="0" marL="0">
              <a:buNone/>
            </a:pPr>
            <a:r>
              <a:rPr lang="en-US" sz="1200" dirty="0">
                <a:solidFill>
                  <a:srgbClr val="5B7185"/>
                </a:solidFill>
                <a:latin typeface="Calibri" pitchFamily="34" charset="0"/>
                <a:ea typeface="Calibri" pitchFamily="34" charset="-122"/>
                <a:cs typeface="Calibri" pitchFamily="34" charset="-120"/>
              </a:rPr>
              <a:t>Loads per week, appliance type, leaks, watering.</a:t>
            </a:r>
            <a:endParaRPr lang="en-US" sz="1200" dirty="0"/>
          </a:p>
        </p:txBody>
      </p:sp>
      <p:sp>
        <p:nvSpPr>
          <p:cNvPr id="24" name="Text 16"/>
          <p:cNvSpPr txBox="1"/>
          <p:nvPr/>
        </p:nvSpPr>
        <p:spPr>
          <a:xfrm>
            <a:off x="548640" y="6510528"/>
            <a:ext cx="5486400" cy="228600"/>
          </a:xfrm>
          <a:prstGeom prst="rect">
            <a:avLst/>
          </a:prstGeom>
          <a:noFill/>
          <a:ln/>
        </p:spPr>
        <p:txBody>
          <a:bodyPr wrap="square" lIns="0" tIns="0" rIns="0" bIns="0" rtlCol="0" anchor="t"/>
          <a:lstStyle/>
          <a:p>
            <a:pPr indent="0" marL="0">
              <a:buNone/>
            </a:pPr>
            <a:r>
              <a:rPr lang="en-US" sz="1000" dirty="0">
                <a:solidFill>
                  <a:srgbClr val="5B7185"/>
                </a:solidFill>
                <a:latin typeface="Calibri" pitchFamily="34" charset="0"/>
                <a:ea typeface="Calibri" pitchFamily="34" charset="-122"/>
                <a:cs typeface="Calibri" pitchFamily="34" charset="-120"/>
              </a:rPr>
              <a:t>Smart Water Usage Advisor  |  SDG 6.4</a:t>
            </a:r>
            <a:endParaRPr lang="en-US" sz="1000" dirty="0"/>
          </a:p>
        </p:txBody>
      </p:sp>
      <p:sp>
        <p:nvSpPr>
          <p:cNvPr id="25" name="Text 17"/>
          <p:cNvSpPr txBox="1"/>
          <p:nvPr/>
        </p:nvSpPr>
        <p:spPr>
          <a:xfrm>
            <a:off x="10725912" y="6510528"/>
            <a:ext cx="914400" cy="228600"/>
          </a:xfrm>
          <a:prstGeom prst="rect">
            <a:avLst/>
          </a:prstGeom>
          <a:noFill/>
          <a:ln/>
        </p:spPr>
        <p:txBody>
          <a:bodyPr wrap="square" lIns="0" tIns="0" rIns="0" bIns="0" rtlCol="0" anchor="t"/>
          <a:lstStyle/>
          <a:p>
            <a:pPr algn="r" indent="0" marL="0">
              <a:buNone/>
            </a:pPr>
            <a:r>
              <a:rPr lang="en-US" sz="1000" dirty="0">
                <a:solidFill>
                  <a:srgbClr val="5B7185"/>
                </a:solidFill>
                <a:latin typeface="Calibri" pitchFamily="34" charset="0"/>
                <a:ea typeface="Calibri" pitchFamily="34" charset="-122"/>
                <a:cs typeface="Calibri" pitchFamily="34" charset="-120"/>
              </a:rPr>
              <a:t>6 / 9</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2F8FB"/>
        </a:solidFill>
      </p:bgPr>
    </p:bg>
    <p:spTree>
      <p:nvGrpSpPr>
        <p:cNvPr id="1" name=""/>
        <p:cNvGrpSpPr/>
        <p:nvPr/>
      </p:nvGrpSpPr>
      <p:grpSpPr>
        <a:xfrm>
          <a:off x="0" y="0"/>
          <a:ext cx="0" cy="0"/>
          <a:chOff x="0" y="0"/>
          <a:chExt cx="0" cy="0"/>
        </a:xfrm>
      </p:grpSpPr>
      <p:sp>
        <p:nvSpPr>
          <p:cNvPr id="2" name="Text 0"/>
          <p:cNvSpPr txBox="1"/>
          <p:nvPr/>
        </p:nvSpPr>
        <p:spPr>
          <a:xfrm>
            <a:off x="548640" y="365760"/>
            <a:ext cx="7315200" cy="274320"/>
          </a:xfrm>
          <a:prstGeom prst="rect">
            <a:avLst/>
          </a:prstGeom>
          <a:noFill/>
          <a:ln/>
        </p:spPr>
        <p:txBody>
          <a:bodyPr wrap="square" lIns="0" tIns="0" rIns="0" bIns="0" rtlCol="0" anchor="t"/>
          <a:lstStyle/>
          <a:p>
            <a:pPr indent="0" marL="0">
              <a:buNone/>
            </a:pPr>
            <a:r>
              <a:rPr lang="en-US" sz="1200" b="1" spc="300" kern="0" dirty="0">
                <a:solidFill>
                  <a:srgbClr val="0FB5A6"/>
                </a:solidFill>
                <a:latin typeface="Calibri" pitchFamily="34" charset="0"/>
                <a:ea typeface="Calibri" pitchFamily="34" charset="-122"/>
                <a:cs typeface="Calibri" pitchFamily="34" charset="-120"/>
              </a:rPr>
              <a:t>06  PROTOTYPE · RESULTS &amp; ADVISOR</a:t>
            </a:r>
            <a:endParaRPr lang="en-US" sz="1200" dirty="0"/>
          </a:p>
        </p:txBody>
      </p:sp>
      <p:sp>
        <p:nvSpPr>
          <p:cNvPr id="3" name="Text 1"/>
          <p:cNvSpPr txBox="1"/>
          <p:nvPr/>
        </p:nvSpPr>
        <p:spPr>
          <a:xfrm>
            <a:off x="548640" y="658368"/>
            <a:ext cx="11064240" cy="640080"/>
          </a:xfrm>
          <a:prstGeom prst="rect">
            <a:avLst/>
          </a:prstGeom>
          <a:noFill/>
          <a:ln/>
        </p:spPr>
        <p:txBody>
          <a:bodyPr wrap="square" lIns="0" tIns="0" rIns="0" bIns="0" rtlCol="0" anchor="t"/>
          <a:lstStyle/>
          <a:p>
            <a:pPr indent="0" marL="0">
              <a:buNone/>
            </a:pPr>
            <a:r>
              <a:rPr lang="en-US" sz="3200" b="1" dirty="0">
                <a:solidFill>
                  <a:srgbClr val="0B2239"/>
                </a:solidFill>
                <a:latin typeface="Cambria" pitchFamily="34" charset="0"/>
                <a:ea typeface="Cambria" pitchFamily="34" charset="-122"/>
                <a:cs typeface="Cambria" pitchFamily="34" charset="-120"/>
              </a:rPr>
              <a:t>From Numbers to Guidance</a:t>
            </a:r>
            <a:endParaRPr lang="en-US" sz="3200" dirty="0"/>
          </a:p>
        </p:txBody>
      </p:sp>
      <p:sp>
        <p:nvSpPr>
          <p:cNvPr id="4" name="Shape 2"/>
          <p:cNvSpPr/>
          <p:nvPr/>
        </p:nvSpPr>
        <p:spPr>
          <a:xfrm>
            <a:off x="493776" y="1453896"/>
            <a:ext cx="5458968" cy="2713441"/>
          </a:xfrm>
          <a:prstGeom prst="roundRect">
            <a:avLst>
              <a:gd name="adj" fmla="val 2696"/>
            </a:avLst>
          </a:prstGeom>
          <a:solidFill>
            <a:srgbClr val="FFFFFF"/>
          </a:solidFill>
          <a:ln w="9525">
            <a:solidFill>
              <a:srgbClr val="D5E5EE"/>
            </a:solidFill>
            <a:prstDash val="solid"/>
          </a:ln>
          <a:effectLst>
            <a:outerShdw sx="100000" sy="100000" kx="0" ky="0" algn="bl" rotWithShape="0" blurRad="101600" dist="25400" dir="5400000">
              <a:srgbClr val="0B2239">
                <a:alpha val="12000"/>
              </a:srgbClr>
            </a:outerShdw>
          </a:effectLst>
        </p:spPr>
      </p:sp>
      <p:pic>
        <p:nvPicPr>
          <p:cNvPr id="5" name="Image 0" descr="/mnt/user-data/uploads/Screenshot_2026-09-20_121020.png">    </p:cNvPr>
          <p:cNvPicPr>
            <a:picLocks noChangeAspect="1"/>
          </p:cNvPicPr>
          <p:nvPr/>
        </p:nvPicPr>
        <p:blipFill>
          <a:blip r:embed="rId1"/>
          <a:stretch>
            <a:fillRect/>
          </a:stretch>
        </p:blipFill>
        <p:spPr>
          <a:xfrm>
            <a:off x="548640" y="1508760"/>
            <a:ext cx="5349240" cy="2603713"/>
          </a:xfrm>
          <a:prstGeom prst="rect">
            <a:avLst/>
          </a:prstGeom>
        </p:spPr>
      </p:pic>
      <p:sp>
        <p:nvSpPr>
          <p:cNvPr id="6" name="Shape 3"/>
          <p:cNvSpPr/>
          <p:nvPr/>
        </p:nvSpPr>
        <p:spPr>
          <a:xfrm>
            <a:off x="6236208" y="1453896"/>
            <a:ext cx="5458968" cy="2710369"/>
          </a:xfrm>
          <a:prstGeom prst="roundRect">
            <a:avLst>
              <a:gd name="adj" fmla="val 2699"/>
            </a:avLst>
          </a:prstGeom>
          <a:solidFill>
            <a:srgbClr val="FFFFFF"/>
          </a:solidFill>
          <a:ln w="9525">
            <a:solidFill>
              <a:srgbClr val="D5E5EE"/>
            </a:solidFill>
            <a:prstDash val="solid"/>
          </a:ln>
          <a:effectLst>
            <a:outerShdw sx="100000" sy="100000" kx="0" ky="0" algn="bl" rotWithShape="0" blurRad="101600" dist="25400" dir="5400000">
              <a:srgbClr val="0B2239">
                <a:alpha val="12000"/>
              </a:srgbClr>
            </a:outerShdw>
          </a:effectLst>
        </p:spPr>
      </p:sp>
      <p:pic>
        <p:nvPicPr>
          <p:cNvPr id="7" name="Image 1" descr="/mnt/user-data/uploads/Screenshot_2026-09-20_121036.png">    </p:cNvPr>
          <p:cNvPicPr>
            <a:picLocks noChangeAspect="1"/>
          </p:cNvPicPr>
          <p:nvPr/>
        </p:nvPicPr>
        <p:blipFill>
          <a:blip r:embed="rId2"/>
          <a:stretch>
            <a:fillRect/>
          </a:stretch>
        </p:blipFill>
        <p:spPr>
          <a:xfrm>
            <a:off x="6291072" y="1508760"/>
            <a:ext cx="5349240" cy="2600641"/>
          </a:xfrm>
          <a:prstGeom prst="rect">
            <a:avLst/>
          </a:prstGeom>
        </p:spPr>
      </p:pic>
      <p:sp>
        <p:nvSpPr>
          <p:cNvPr id="8" name="Shape 4"/>
          <p:cNvSpPr/>
          <p:nvPr/>
        </p:nvSpPr>
        <p:spPr>
          <a:xfrm>
            <a:off x="548640" y="4434840"/>
            <a:ext cx="1691640" cy="1005840"/>
          </a:xfrm>
          <a:prstGeom prst="roundRect">
            <a:avLst>
              <a:gd name="adj" fmla="val 10909"/>
            </a:avLst>
          </a:prstGeom>
          <a:solidFill>
            <a:srgbClr val="FFFFFF"/>
          </a:solidFill>
          <a:ln w="9525">
            <a:solidFill>
              <a:srgbClr val="D5E5EE"/>
            </a:solidFill>
            <a:prstDash val="solid"/>
          </a:ln>
          <a:effectLst>
            <a:outerShdw sx="100000" sy="100000" kx="0" ky="0" algn="bl" rotWithShape="0" blurRad="101600" dist="25400" dir="5400000">
              <a:srgbClr val="0B2239">
                <a:alpha val="12000"/>
              </a:srgbClr>
            </a:outerShdw>
          </a:effectLst>
        </p:spPr>
      </p:sp>
      <p:sp>
        <p:nvSpPr>
          <p:cNvPr id="9" name="Text 5"/>
          <p:cNvSpPr txBox="1"/>
          <p:nvPr/>
        </p:nvSpPr>
        <p:spPr>
          <a:xfrm>
            <a:off x="548640" y="4526280"/>
            <a:ext cx="1691640" cy="457200"/>
          </a:xfrm>
          <a:prstGeom prst="rect">
            <a:avLst/>
          </a:prstGeom>
          <a:noFill/>
          <a:ln/>
        </p:spPr>
        <p:txBody>
          <a:bodyPr wrap="square" lIns="0" tIns="0" rIns="0" bIns="0" rtlCol="0" anchor="t"/>
          <a:lstStyle/>
          <a:p>
            <a:pPr algn="ctr" indent="0" marL="0">
              <a:buNone/>
            </a:pPr>
            <a:r>
              <a:rPr lang="en-US" sz="2600" b="1" dirty="0">
                <a:solidFill>
                  <a:srgbClr val="0B6E99"/>
                </a:solidFill>
                <a:latin typeface="Cambria" pitchFamily="34" charset="0"/>
                <a:ea typeface="Cambria" pitchFamily="34" charset="-122"/>
                <a:cs typeface="Cambria" pitchFamily="34" charset="-120"/>
              </a:rPr>
              <a:t>1,241 L</a:t>
            </a:r>
            <a:endParaRPr lang="en-US" sz="2600" dirty="0"/>
          </a:p>
        </p:txBody>
      </p:sp>
      <p:sp>
        <p:nvSpPr>
          <p:cNvPr id="10" name="Text 6"/>
          <p:cNvSpPr txBox="1"/>
          <p:nvPr/>
        </p:nvSpPr>
        <p:spPr>
          <a:xfrm>
            <a:off x="548640" y="5029200"/>
            <a:ext cx="1691640" cy="274320"/>
          </a:xfrm>
          <a:prstGeom prst="rect">
            <a:avLst/>
          </a:prstGeom>
          <a:noFill/>
          <a:ln/>
        </p:spPr>
        <p:txBody>
          <a:bodyPr wrap="square" lIns="0" tIns="0" rIns="0" bIns="0" rtlCol="0" anchor="t"/>
          <a:lstStyle/>
          <a:p>
            <a:pPr algn="ctr" indent="0" marL="0">
              <a:buNone/>
            </a:pPr>
            <a:r>
              <a:rPr lang="en-US" sz="1200" dirty="0">
                <a:solidFill>
                  <a:srgbClr val="5B7185"/>
                </a:solidFill>
                <a:latin typeface="Calibri" pitchFamily="34" charset="0"/>
                <a:ea typeface="Calibri" pitchFamily="34" charset="-122"/>
                <a:cs typeface="Calibri" pitchFamily="34" charset="-120"/>
              </a:rPr>
              <a:t>total daily use</a:t>
            </a:r>
            <a:endParaRPr lang="en-US" sz="1200" dirty="0"/>
          </a:p>
        </p:txBody>
      </p:sp>
      <p:sp>
        <p:nvSpPr>
          <p:cNvPr id="11" name="Shape 7"/>
          <p:cNvSpPr/>
          <p:nvPr/>
        </p:nvSpPr>
        <p:spPr>
          <a:xfrm>
            <a:off x="2350008" y="4434840"/>
            <a:ext cx="1691640" cy="1005840"/>
          </a:xfrm>
          <a:prstGeom prst="roundRect">
            <a:avLst>
              <a:gd name="adj" fmla="val 10909"/>
            </a:avLst>
          </a:prstGeom>
          <a:solidFill>
            <a:srgbClr val="FFFFFF"/>
          </a:solidFill>
          <a:ln w="9525">
            <a:solidFill>
              <a:srgbClr val="D5E5EE"/>
            </a:solidFill>
            <a:prstDash val="solid"/>
          </a:ln>
          <a:effectLst>
            <a:outerShdw sx="100000" sy="100000" kx="0" ky="0" algn="bl" rotWithShape="0" blurRad="101600" dist="25400" dir="5400000">
              <a:srgbClr val="0B2239">
                <a:alpha val="12000"/>
              </a:srgbClr>
            </a:outerShdw>
          </a:effectLst>
        </p:spPr>
      </p:sp>
      <p:sp>
        <p:nvSpPr>
          <p:cNvPr id="12" name="Text 8"/>
          <p:cNvSpPr txBox="1"/>
          <p:nvPr/>
        </p:nvSpPr>
        <p:spPr>
          <a:xfrm>
            <a:off x="2350008" y="4526280"/>
            <a:ext cx="1691640" cy="457200"/>
          </a:xfrm>
          <a:prstGeom prst="rect">
            <a:avLst/>
          </a:prstGeom>
          <a:noFill/>
          <a:ln/>
        </p:spPr>
        <p:txBody>
          <a:bodyPr wrap="square" lIns="0" tIns="0" rIns="0" bIns="0" rtlCol="0" anchor="t"/>
          <a:lstStyle/>
          <a:p>
            <a:pPr algn="ctr" indent="0" marL="0">
              <a:buNone/>
            </a:pPr>
            <a:r>
              <a:rPr lang="en-US" sz="2600" b="1" dirty="0">
                <a:solidFill>
                  <a:srgbClr val="0B6E99"/>
                </a:solidFill>
                <a:latin typeface="Cambria" pitchFamily="34" charset="0"/>
                <a:ea typeface="Cambria" pitchFamily="34" charset="-122"/>
                <a:cs typeface="Cambria" pitchFamily="34" charset="-120"/>
              </a:rPr>
              <a:t>63.5%</a:t>
            </a:r>
            <a:endParaRPr lang="en-US" sz="2600" dirty="0"/>
          </a:p>
        </p:txBody>
      </p:sp>
      <p:sp>
        <p:nvSpPr>
          <p:cNvPr id="13" name="Text 9"/>
          <p:cNvSpPr txBox="1"/>
          <p:nvPr/>
        </p:nvSpPr>
        <p:spPr>
          <a:xfrm>
            <a:off x="2350008" y="5029200"/>
            <a:ext cx="1691640" cy="274320"/>
          </a:xfrm>
          <a:prstGeom prst="rect">
            <a:avLst/>
          </a:prstGeom>
          <a:noFill/>
          <a:ln/>
        </p:spPr>
        <p:txBody>
          <a:bodyPr wrap="square" lIns="0" tIns="0" rIns="0" bIns="0" rtlCol="0" anchor="t"/>
          <a:lstStyle/>
          <a:p>
            <a:pPr algn="ctr" indent="0" marL="0">
              <a:buNone/>
            </a:pPr>
            <a:r>
              <a:rPr lang="en-US" sz="1200" dirty="0">
                <a:solidFill>
                  <a:srgbClr val="5B7185"/>
                </a:solidFill>
                <a:latin typeface="Calibri" pitchFamily="34" charset="0"/>
                <a:ea typeface="Calibri" pitchFamily="34" charset="-122"/>
                <a:cs typeface="Calibri" pitchFamily="34" charset="-120"/>
              </a:rPr>
              <a:t>from bathing</a:t>
            </a:r>
            <a:endParaRPr lang="en-US" sz="1200" dirty="0"/>
          </a:p>
        </p:txBody>
      </p:sp>
      <p:sp>
        <p:nvSpPr>
          <p:cNvPr id="14" name="Shape 10"/>
          <p:cNvSpPr/>
          <p:nvPr/>
        </p:nvSpPr>
        <p:spPr>
          <a:xfrm>
            <a:off x="4151376" y="4434840"/>
            <a:ext cx="1691640" cy="1005840"/>
          </a:xfrm>
          <a:prstGeom prst="roundRect">
            <a:avLst>
              <a:gd name="adj" fmla="val 10909"/>
            </a:avLst>
          </a:prstGeom>
          <a:solidFill>
            <a:srgbClr val="FFFFFF"/>
          </a:solidFill>
          <a:ln w="9525">
            <a:solidFill>
              <a:srgbClr val="D5E5EE"/>
            </a:solidFill>
            <a:prstDash val="solid"/>
          </a:ln>
          <a:effectLst>
            <a:outerShdw sx="100000" sy="100000" kx="0" ky="0" algn="bl" rotWithShape="0" blurRad="101600" dist="25400" dir="5400000">
              <a:srgbClr val="0B2239">
                <a:alpha val="12000"/>
              </a:srgbClr>
            </a:outerShdw>
          </a:effectLst>
        </p:spPr>
      </p:sp>
      <p:sp>
        <p:nvSpPr>
          <p:cNvPr id="15" name="Text 11"/>
          <p:cNvSpPr txBox="1"/>
          <p:nvPr/>
        </p:nvSpPr>
        <p:spPr>
          <a:xfrm>
            <a:off x="4151376" y="4526280"/>
            <a:ext cx="1691640" cy="457200"/>
          </a:xfrm>
          <a:prstGeom prst="rect">
            <a:avLst/>
          </a:prstGeom>
          <a:noFill/>
          <a:ln/>
        </p:spPr>
        <p:txBody>
          <a:bodyPr wrap="square" lIns="0" tIns="0" rIns="0" bIns="0" rtlCol="0" anchor="t"/>
          <a:lstStyle/>
          <a:p>
            <a:pPr algn="ctr" indent="0" marL="0">
              <a:buNone/>
            </a:pPr>
            <a:r>
              <a:rPr lang="en-US" sz="2600" b="1" dirty="0">
                <a:solidFill>
                  <a:srgbClr val="0B6E99"/>
                </a:solidFill>
                <a:latin typeface="Cambria" pitchFamily="34" charset="0"/>
                <a:ea typeface="Cambria" pitchFamily="34" charset="-122"/>
                <a:cs typeface="Cambria" pitchFamily="34" charset="-120"/>
              </a:rPr>
              <a:t>~482 L</a:t>
            </a:r>
            <a:endParaRPr lang="en-US" sz="2600" dirty="0"/>
          </a:p>
        </p:txBody>
      </p:sp>
      <p:sp>
        <p:nvSpPr>
          <p:cNvPr id="16" name="Text 12"/>
          <p:cNvSpPr txBox="1"/>
          <p:nvPr/>
        </p:nvSpPr>
        <p:spPr>
          <a:xfrm>
            <a:off x="4151376" y="5029200"/>
            <a:ext cx="1691640" cy="274320"/>
          </a:xfrm>
          <a:prstGeom prst="rect">
            <a:avLst/>
          </a:prstGeom>
          <a:noFill/>
          <a:ln/>
        </p:spPr>
        <p:txBody>
          <a:bodyPr wrap="square" lIns="0" tIns="0" rIns="0" bIns="0" rtlCol="0" anchor="t"/>
          <a:lstStyle/>
          <a:p>
            <a:pPr algn="ctr" indent="0" marL="0">
              <a:buNone/>
            </a:pPr>
            <a:r>
              <a:rPr lang="en-US" sz="1200" dirty="0">
                <a:solidFill>
                  <a:srgbClr val="5B7185"/>
                </a:solidFill>
                <a:latin typeface="Calibri" pitchFamily="34" charset="0"/>
                <a:ea typeface="Calibri" pitchFamily="34" charset="-122"/>
                <a:cs typeface="Calibri" pitchFamily="34" charset="-120"/>
              </a:rPr>
              <a:t>top saving / day</a:t>
            </a:r>
            <a:endParaRPr lang="en-US" sz="1200" dirty="0"/>
          </a:p>
        </p:txBody>
      </p:sp>
      <p:sp>
        <p:nvSpPr>
          <p:cNvPr id="17" name="Text 13"/>
          <p:cNvSpPr txBox="1"/>
          <p:nvPr/>
        </p:nvSpPr>
        <p:spPr>
          <a:xfrm>
            <a:off x="548640" y="5623560"/>
            <a:ext cx="5349240" cy="548640"/>
          </a:xfrm>
          <a:prstGeom prst="rect">
            <a:avLst/>
          </a:prstGeom>
          <a:noFill/>
          <a:ln/>
        </p:spPr>
        <p:txBody>
          <a:bodyPr wrap="square" lIns="0" tIns="0" rIns="0" bIns="0" rtlCol="0" anchor="t"/>
          <a:lstStyle/>
          <a:p>
            <a:pPr indent="0" marL="0">
              <a:buNone/>
            </a:pPr>
            <a:r>
              <a:rPr lang="en-US" sz="1350" dirty="0">
                <a:solidFill>
                  <a:srgbClr val="0B2239"/>
                </a:solidFill>
                <a:latin typeface="Calibri" pitchFamily="34" charset="0"/>
                <a:ea typeface="Calibri" pitchFamily="34" charset="-122"/>
                <a:cs typeface="Calibri" pitchFamily="34" charset="-120"/>
              </a:rPr>
              <a:t>The dashboard shows where water goes, ranked by volume, not just one final number.</a:t>
            </a:r>
            <a:endParaRPr lang="en-US" sz="1350" dirty="0"/>
          </a:p>
        </p:txBody>
      </p:sp>
      <p:sp>
        <p:nvSpPr>
          <p:cNvPr id="18" name="Shape 14"/>
          <p:cNvSpPr/>
          <p:nvPr/>
        </p:nvSpPr>
        <p:spPr>
          <a:xfrm>
            <a:off x="6291072" y="4480560"/>
            <a:ext cx="384048" cy="384048"/>
          </a:xfrm>
          <a:prstGeom prst="ellipse">
            <a:avLst/>
          </a:prstGeom>
          <a:solidFill>
            <a:srgbClr val="0B6E99"/>
          </a:solidFill>
          <a:ln w="12700">
            <a:solidFill>
              <a:srgbClr val="0B6E99"/>
            </a:solidFill>
            <a:prstDash val="solid"/>
          </a:ln>
        </p:spPr>
      </p:sp>
      <p:pic>
        <p:nvPicPr>
          <p:cNvPr id="19" name="Image 2" descr="preencoded.png">    </p:cNvPr>
          <p:cNvPicPr>
            <a:picLocks noChangeAspect="1"/>
          </p:cNvPicPr>
          <p:nvPr/>
        </p:nvPicPr>
        <p:blipFill>
          <a:blip r:embed="rId3"/>
          <a:stretch>
            <a:fillRect/>
          </a:stretch>
        </p:blipFill>
        <p:spPr>
          <a:xfrm>
            <a:off x="6387084" y="4576572"/>
            <a:ext cx="192024" cy="192024"/>
          </a:xfrm>
          <a:prstGeom prst="rect">
            <a:avLst/>
          </a:prstGeom>
        </p:spPr>
      </p:pic>
      <p:sp>
        <p:nvSpPr>
          <p:cNvPr id="20" name="Text 15"/>
          <p:cNvSpPr txBox="1"/>
          <p:nvPr/>
        </p:nvSpPr>
        <p:spPr>
          <a:xfrm>
            <a:off x="6812280" y="4434840"/>
            <a:ext cx="4800600" cy="475488"/>
          </a:xfrm>
          <a:prstGeom prst="rect">
            <a:avLst/>
          </a:prstGeom>
          <a:noFill/>
          <a:ln/>
        </p:spPr>
        <p:txBody>
          <a:bodyPr wrap="square" lIns="0" tIns="0" rIns="0" bIns="0" rtlCol="0" anchor="ctr"/>
          <a:lstStyle/>
          <a:p>
            <a:pPr indent="0" marL="0">
              <a:buNone/>
            </a:pPr>
            <a:r>
              <a:rPr lang="en-US" sz="1400" dirty="0">
                <a:solidFill>
                  <a:srgbClr val="0B2239"/>
                </a:solidFill>
                <a:latin typeface="Calibri" pitchFamily="34" charset="0"/>
                <a:ea typeface="Calibri" pitchFamily="34" charset="-122"/>
                <a:cs typeface="Calibri" pitchFamily="34" charset="-120"/>
              </a:rPr>
              <a:t>Reads the household’s own profile: 206.84 L/person/day</a:t>
            </a:r>
            <a:endParaRPr lang="en-US" sz="1400" dirty="0"/>
          </a:p>
        </p:txBody>
      </p:sp>
      <p:sp>
        <p:nvSpPr>
          <p:cNvPr id="21" name="Shape 16"/>
          <p:cNvSpPr/>
          <p:nvPr/>
        </p:nvSpPr>
        <p:spPr>
          <a:xfrm>
            <a:off x="6291072" y="5074920"/>
            <a:ext cx="384048" cy="384048"/>
          </a:xfrm>
          <a:prstGeom prst="ellipse">
            <a:avLst/>
          </a:prstGeom>
          <a:solidFill>
            <a:srgbClr val="0B6E99"/>
          </a:solidFill>
          <a:ln w="12700">
            <a:solidFill>
              <a:srgbClr val="0B6E99"/>
            </a:solidFill>
            <a:prstDash val="solid"/>
          </a:ln>
        </p:spPr>
      </p:sp>
      <p:pic>
        <p:nvPicPr>
          <p:cNvPr id="22" name="Image 3" descr="preencoded.png">    </p:cNvPr>
          <p:cNvPicPr>
            <a:picLocks noChangeAspect="1"/>
          </p:cNvPicPr>
          <p:nvPr/>
        </p:nvPicPr>
        <p:blipFill>
          <a:blip r:embed="rId4"/>
          <a:stretch>
            <a:fillRect/>
          </a:stretch>
        </p:blipFill>
        <p:spPr>
          <a:xfrm>
            <a:off x="6387084" y="5170932"/>
            <a:ext cx="192024" cy="192024"/>
          </a:xfrm>
          <a:prstGeom prst="rect">
            <a:avLst/>
          </a:prstGeom>
        </p:spPr>
      </p:pic>
      <p:sp>
        <p:nvSpPr>
          <p:cNvPr id="23" name="Text 17"/>
          <p:cNvSpPr txBox="1"/>
          <p:nvPr/>
        </p:nvSpPr>
        <p:spPr>
          <a:xfrm>
            <a:off x="6812280" y="5029200"/>
            <a:ext cx="4800600" cy="475488"/>
          </a:xfrm>
          <a:prstGeom prst="rect">
            <a:avLst/>
          </a:prstGeom>
          <a:noFill/>
          <a:ln/>
        </p:spPr>
        <p:txBody>
          <a:bodyPr wrap="square" lIns="0" tIns="0" rIns="0" bIns="0" rtlCol="0" anchor="ctr"/>
          <a:lstStyle/>
          <a:p>
            <a:pPr indent="0" marL="0">
              <a:buNone/>
            </a:pPr>
            <a:r>
              <a:rPr lang="en-US" sz="1400" dirty="0">
                <a:solidFill>
                  <a:srgbClr val="0B2239"/>
                </a:solidFill>
                <a:latin typeface="Calibri" pitchFamily="34" charset="0"/>
                <a:ea typeface="Calibri" pitchFamily="34" charset="-122"/>
                <a:cs typeface="Calibri" pitchFamily="34" charset="-120"/>
              </a:rPr>
              <a:t>Suggested prompts help users start the conversation</a:t>
            </a:r>
            <a:endParaRPr lang="en-US" sz="1400" dirty="0"/>
          </a:p>
        </p:txBody>
      </p:sp>
      <p:sp>
        <p:nvSpPr>
          <p:cNvPr id="24" name="Shape 18"/>
          <p:cNvSpPr/>
          <p:nvPr/>
        </p:nvSpPr>
        <p:spPr>
          <a:xfrm>
            <a:off x="6291072" y="5669280"/>
            <a:ext cx="384048" cy="384048"/>
          </a:xfrm>
          <a:prstGeom prst="ellipse">
            <a:avLst/>
          </a:prstGeom>
          <a:solidFill>
            <a:srgbClr val="0FB5A6"/>
          </a:solidFill>
          <a:ln w="12700">
            <a:solidFill>
              <a:srgbClr val="0FB5A6"/>
            </a:solidFill>
            <a:prstDash val="solid"/>
          </a:ln>
        </p:spPr>
      </p:sp>
      <p:pic>
        <p:nvPicPr>
          <p:cNvPr id="25" name="Image 4" descr="preencoded.png">    </p:cNvPr>
          <p:cNvPicPr>
            <a:picLocks noChangeAspect="1"/>
          </p:cNvPicPr>
          <p:nvPr/>
        </p:nvPicPr>
        <p:blipFill>
          <a:blip r:embed="rId5"/>
          <a:stretch>
            <a:fillRect/>
          </a:stretch>
        </p:blipFill>
        <p:spPr>
          <a:xfrm>
            <a:off x="6387084" y="5765292"/>
            <a:ext cx="192024" cy="192024"/>
          </a:xfrm>
          <a:prstGeom prst="rect">
            <a:avLst/>
          </a:prstGeom>
        </p:spPr>
      </p:pic>
      <p:sp>
        <p:nvSpPr>
          <p:cNvPr id="26" name="Text 19"/>
          <p:cNvSpPr txBox="1"/>
          <p:nvPr/>
        </p:nvSpPr>
        <p:spPr>
          <a:xfrm>
            <a:off x="6812280" y="5623560"/>
            <a:ext cx="4800600" cy="475488"/>
          </a:xfrm>
          <a:prstGeom prst="rect">
            <a:avLst/>
          </a:prstGeom>
          <a:noFill/>
          <a:ln/>
        </p:spPr>
        <p:txBody>
          <a:bodyPr wrap="square" lIns="0" tIns="0" rIns="0" bIns="0" rtlCol="0" anchor="ctr"/>
          <a:lstStyle/>
          <a:p>
            <a:pPr indent="0" marL="0">
              <a:buNone/>
            </a:pPr>
            <a:r>
              <a:rPr lang="en-US" sz="1400" dirty="0">
                <a:solidFill>
                  <a:srgbClr val="0B2239"/>
                </a:solidFill>
                <a:latin typeface="Calibri" pitchFamily="34" charset="0"/>
                <a:ea typeface="Calibri" pitchFamily="34" charset="-122"/>
                <a:cs typeface="Calibri" pitchFamily="34" charset="-120"/>
              </a:rPr>
              <a:t>Advice grounded in the local knowledge base</a:t>
            </a:r>
            <a:endParaRPr lang="en-US" sz="1400" dirty="0"/>
          </a:p>
        </p:txBody>
      </p:sp>
      <p:sp>
        <p:nvSpPr>
          <p:cNvPr id="27" name="Text 20"/>
          <p:cNvSpPr txBox="1"/>
          <p:nvPr/>
        </p:nvSpPr>
        <p:spPr>
          <a:xfrm>
            <a:off x="548640" y="6510528"/>
            <a:ext cx="5486400" cy="228600"/>
          </a:xfrm>
          <a:prstGeom prst="rect">
            <a:avLst/>
          </a:prstGeom>
          <a:noFill/>
          <a:ln/>
        </p:spPr>
        <p:txBody>
          <a:bodyPr wrap="square" lIns="0" tIns="0" rIns="0" bIns="0" rtlCol="0" anchor="t"/>
          <a:lstStyle/>
          <a:p>
            <a:pPr indent="0" marL="0">
              <a:buNone/>
            </a:pPr>
            <a:r>
              <a:rPr lang="en-US" sz="1000" dirty="0">
                <a:solidFill>
                  <a:srgbClr val="5B7185"/>
                </a:solidFill>
                <a:latin typeface="Calibri" pitchFamily="34" charset="0"/>
                <a:ea typeface="Calibri" pitchFamily="34" charset="-122"/>
                <a:cs typeface="Calibri" pitchFamily="34" charset="-120"/>
              </a:rPr>
              <a:t>Smart Water Usage Advisor  |  SDG 6.4</a:t>
            </a:r>
            <a:endParaRPr lang="en-US" sz="1000" dirty="0"/>
          </a:p>
        </p:txBody>
      </p:sp>
      <p:sp>
        <p:nvSpPr>
          <p:cNvPr id="28" name="Text 21"/>
          <p:cNvSpPr txBox="1"/>
          <p:nvPr/>
        </p:nvSpPr>
        <p:spPr>
          <a:xfrm>
            <a:off x="10725912" y="6510528"/>
            <a:ext cx="914400" cy="228600"/>
          </a:xfrm>
          <a:prstGeom prst="rect">
            <a:avLst/>
          </a:prstGeom>
          <a:noFill/>
          <a:ln/>
        </p:spPr>
        <p:txBody>
          <a:bodyPr wrap="square" lIns="0" tIns="0" rIns="0" bIns="0" rtlCol="0" anchor="t"/>
          <a:lstStyle/>
          <a:p>
            <a:pPr algn="r" indent="0" marL="0">
              <a:buNone/>
            </a:pPr>
            <a:r>
              <a:rPr lang="en-US" sz="1000" dirty="0">
                <a:solidFill>
                  <a:srgbClr val="5B7185"/>
                </a:solidFill>
                <a:latin typeface="Calibri" pitchFamily="34" charset="0"/>
                <a:ea typeface="Calibri" pitchFamily="34" charset="-122"/>
                <a:cs typeface="Calibri" pitchFamily="34" charset="-120"/>
              </a:rPr>
              <a:t>7 / 9</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2F8FB"/>
        </a:solidFill>
      </p:bgPr>
    </p:bg>
    <p:spTree>
      <p:nvGrpSpPr>
        <p:cNvPr id="1" name=""/>
        <p:cNvGrpSpPr/>
        <p:nvPr/>
      </p:nvGrpSpPr>
      <p:grpSpPr>
        <a:xfrm>
          <a:off x="0" y="0"/>
          <a:ext cx="0" cy="0"/>
          <a:chOff x="0" y="0"/>
          <a:chExt cx="0" cy="0"/>
        </a:xfrm>
      </p:grpSpPr>
      <p:sp>
        <p:nvSpPr>
          <p:cNvPr id="2" name="Text 0"/>
          <p:cNvSpPr txBox="1"/>
          <p:nvPr/>
        </p:nvSpPr>
        <p:spPr>
          <a:xfrm>
            <a:off x="548640" y="365760"/>
            <a:ext cx="7315200" cy="274320"/>
          </a:xfrm>
          <a:prstGeom prst="rect">
            <a:avLst/>
          </a:prstGeom>
          <a:noFill/>
          <a:ln/>
        </p:spPr>
        <p:txBody>
          <a:bodyPr wrap="square" lIns="0" tIns="0" rIns="0" bIns="0" rtlCol="0" anchor="t"/>
          <a:lstStyle/>
          <a:p>
            <a:pPr indent="0" marL="0">
              <a:buNone/>
            </a:pPr>
            <a:r>
              <a:rPr lang="en-US" sz="1200" b="1" spc="300" kern="0" dirty="0">
                <a:solidFill>
                  <a:srgbClr val="0FB5A6"/>
                </a:solidFill>
                <a:latin typeface="Calibri" pitchFamily="34" charset="0"/>
                <a:ea typeface="Calibri" pitchFamily="34" charset="-122"/>
                <a:cs typeface="Calibri" pitchFamily="34" charset="-120"/>
              </a:rPr>
              <a:t>07  RESPONSIBLE AI &amp; IMPACT</a:t>
            </a:r>
            <a:endParaRPr lang="en-US" sz="1200" dirty="0"/>
          </a:p>
        </p:txBody>
      </p:sp>
      <p:sp>
        <p:nvSpPr>
          <p:cNvPr id="3" name="Text 1"/>
          <p:cNvSpPr txBox="1"/>
          <p:nvPr/>
        </p:nvSpPr>
        <p:spPr>
          <a:xfrm>
            <a:off x="548640" y="658368"/>
            <a:ext cx="11064240" cy="640080"/>
          </a:xfrm>
          <a:prstGeom prst="rect">
            <a:avLst/>
          </a:prstGeom>
          <a:noFill/>
          <a:ln/>
        </p:spPr>
        <p:txBody>
          <a:bodyPr wrap="square" lIns="0" tIns="0" rIns="0" bIns="0" rtlCol="0" anchor="t"/>
          <a:lstStyle/>
          <a:p>
            <a:pPr indent="0" marL="0">
              <a:buNone/>
            </a:pPr>
            <a:r>
              <a:rPr lang="en-US" sz="3200" b="1" dirty="0">
                <a:solidFill>
                  <a:srgbClr val="0B2239"/>
                </a:solidFill>
                <a:latin typeface="Cambria" pitchFamily="34" charset="0"/>
                <a:ea typeface="Cambria" pitchFamily="34" charset="-122"/>
                <a:cs typeface="Cambria" pitchFamily="34" charset="-120"/>
              </a:rPr>
              <a:t>Trustworthy by Design</a:t>
            </a:r>
            <a:endParaRPr lang="en-US" sz="3200" dirty="0"/>
          </a:p>
        </p:txBody>
      </p:sp>
      <p:sp>
        <p:nvSpPr>
          <p:cNvPr id="4" name="Shape 2"/>
          <p:cNvSpPr/>
          <p:nvPr/>
        </p:nvSpPr>
        <p:spPr>
          <a:xfrm>
            <a:off x="548640" y="1508760"/>
            <a:ext cx="5760720" cy="841248"/>
          </a:xfrm>
          <a:prstGeom prst="roundRect">
            <a:avLst>
              <a:gd name="adj" fmla="val 13043"/>
            </a:avLst>
          </a:prstGeom>
          <a:solidFill>
            <a:srgbClr val="FFFFFF"/>
          </a:solidFill>
          <a:ln w="9525">
            <a:solidFill>
              <a:srgbClr val="D5E5EE"/>
            </a:solidFill>
            <a:prstDash val="solid"/>
          </a:ln>
          <a:effectLst>
            <a:outerShdw sx="100000" sy="100000" kx="0" ky="0" algn="bl" rotWithShape="0" blurRad="101600" dist="25400" dir="5400000">
              <a:srgbClr val="0B2239">
                <a:alpha val="12000"/>
              </a:srgbClr>
            </a:outerShdw>
          </a:effectLst>
        </p:spPr>
      </p:sp>
      <p:sp>
        <p:nvSpPr>
          <p:cNvPr id="5" name="Shape 3"/>
          <p:cNvSpPr/>
          <p:nvPr/>
        </p:nvSpPr>
        <p:spPr>
          <a:xfrm>
            <a:off x="731520" y="1691640"/>
            <a:ext cx="475488" cy="475488"/>
          </a:xfrm>
          <a:prstGeom prst="ellipse">
            <a:avLst/>
          </a:prstGeom>
          <a:solidFill>
            <a:srgbClr val="0B6E99"/>
          </a:solidFill>
          <a:ln w="12700">
            <a:solidFill>
              <a:srgbClr val="0B6E99"/>
            </a:solidFill>
            <a:prstDash val="solid"/>
          </a:ln>
        </p:spPr>
      </p:sp>
      <p:pic>
        <p:nvPicPr>
          <p:cNvPr id="6" name="Image 0" descr="preencoded.png">    </p:cNvPr>
          <p:cNvPicPr>
            <a:picLocks noChangeAspect="1"/>
          </p:cNvPicPr>
          <p:nvPr/>
        </p:nvPicPr>
        <p:blipFill>
          <a:blip r:embed="rId1"/>
          <a:stretch>
            <a:fillRect/>
          </a:stretch>
        </p:blipFill>
        <p:spPr>
          <a:xfrm>
            <a:off x="850392" y="1810512"/>
            <a:ext cx="237744" cy="237744"/>
          </a:xfrm>
          <a:prstGeom prst="rect">
            <a:avLst/>
          </a:prstGeom>
        </p:spPr>
      </p:pic>
      <p:sp>
        <p:nvSpPr>
          <p:cNvPr id="7" name="Text 4"/>
          <p:cNvSpPr txBox="1"/>
          <p:nvPr/>
        </p:nvSpPr>
        <p:spPr>
          <a:xfrm>
            <a:off x="1371600" y="1600200"/>
            <a:ext cx="4754880" cy="274320"/>
          </a:xfrm>
          <a:prstGeom prst="rect">
            <a:avLst/>
          </a:prstGeom>
          <a:noFill/>
          <a:ln/>
        </p:spPr>
        <p:txBody>
          <a:bodyPr wrap="square" lIns="0" tIns="0" rIns="0" bIns="0" rtlCol="0" anchor="t"/>
          <a:lstStyle/>
          <a:p>
            <a:pPr indent="0" marL="0">
              <a:buNone/>
            </a:pPr>
            <a:r>
              <a:rPr lang="en-US" sz="1500" b="1" dirty="0">
                <a:solidFill>
                  <a:srgbClr val="0B2239"/>
                </a:solidFill>
                <a:latin typeface="Calibri" pitchFamily="34" charset="0"/>
                <a:ea typeface="Calibri" pitchFamily="34" charset="-122"/>
                <a:cs typeface="Calibri" pitchFamily="34" charset="-120"/>
              </a:rPr>
              <a:t>Transparency</a:t>
            </a:r>
            <a:endParaRPr lang="en-US" sz="1500" dirty="0"/>
          </a:p>
        </p:txBody>
      </p:sp>
      <p:sp>
        <p:nvSpPr>
          <p:cNvPr id="8" name="Text 5"/>
          <p:cNvSpPr txBox="1"/>
          <p:nvPr/>
        </p:nvSpPr>
        <p:spPr>
          <a:xfrm>
            <a:off x="1371600" y="1892808"/>
            <a:ext cx="4754880" cy="411480"/>
          </a:xfrm>
          <a:prstGeom prst="rect">
            <a:avLst/>
          </a:prstGeom>
          <a:noFill/>
          <a:ln/>
        </p:spPr>
        <p:txBody>
          <a:bodyPr wrap="square" lIns="0" tIns="0" rIns="0" bIns="0" rtlCol="0" anchor="t"/>
          <a:lstStyle/>
          <a:p>
            <a:pPr indent="0" marL="0">
              <a:buNone/>
            </a:pPr>
            <a:r>
              <a:rPr lang="en-US" sz="1200" dirty="0">
                <a:solidFill>
                  <a:srgbClr val="5B7185"/>
                </a:solidFill>
                <a:latin typeface="Calibri" pitchFamily="34" charset="0"/>
                <a:ea typeface="Calibri" pitchFamily="34" charset="-122"/>
                <a:cs typeface="Calibri" pitchFamily="34" charset="-120"/>
              </a:rPr>
              <a:t>Figures are behavioural estimates, not meter readings; the UI carries a disclaimer.</a:t>
            </a:r>
            <a:endParaRPr lang="en-US" sz="1200" dirty="0"/>
          </a:p>
        </p:txBody>
      </p:sp>
      <p:sp>
        <p:nvSpPr>
          <p:cNvPr id="9" name="Shape 6"/>
          <p:cNvSpPr/>
          <p:nvPr/>
        </p:nvSpPr>
        <p:spPr>
          <a:xfrm>
            <a:off x="548640" y="2450592"/>
            <a:ext cx="5760720" cy="841248"/>
          </a:xfrm>
          <a:prstGeom prst="roundRect">
            <a:avLst>
              <a:gd name="adj" fmla="val 13043"/>
            </a:avLst>
          </a:prstGeom>
          <a:solidFill>
            <a:srgbClr val="FFFFFF"/>
          </a:solidFill>
          <a:ln w="9525">
            <a:solidFill>
              <a:srgbClr val="D5E5EE"/>
            </a:solidFill>
            <a:prstDash val="solid"/>
          </a:ln>
          <a:effectLst>
            <a:outerShdw sx="100000" sy="100000" kx="0" ky="0" algn="bl" rotWithShape="0" blurRad="101600" dist="25400" dir="5400000">
              <a:srgbClr val="0B2239">
                <a:alpha val="12000"/>
              </a:srgbClr>
            </a:outerShdw>
          </a:effectLst>
        </p:spPr>
      </p:sp>
      <p:sp>
        <p:nvSpPr>
          <p:cNvPr id="10" name="Shape 7"/>
          <p:cNvSpPr/>
          <p:nvPr/>
        </p:nvSpPr>
        <p:spPr>
          <a:xfrm>
            <a:off x="731520" y="2633472"/>
            <a:ext cx="475488" cy="475488"/>
          </a:xfrm>
          <a:prstGeom prst="ellipse">
            <a:avLst/>
          </a:prstGeom>
          <a:solidFill>
            <a:srgbClr val="0FB5A6"/>
          </a:solidFill>
          <a:ln w="12700">
            <a:solidFill>
              <a:srgbClr val="0FB5A6"/>
            </a:solidFill>
            <a:prstDash val="solid"/>
          </a:ln>
        </p:spPr>
      </p:sp>
      <p:pic>
        <p:nvPicPr>
          <p:cNvPr id="11" name="Image 1" descr="preencoded.png">    </p:cNvPr>
          <p:cNvPicPr>
            <a:picLocks noChangeAspect="1"/>
          </p:cNvPicPr>
          <p:nvPr/>
        </p:nvPicPr>
        <p:blipFill>
          <a:blip r:embed="rId2"/>
          <a:stretch>
            <a:fillRect/>
          </a:stretch>
        </p:blipFill>
        <p:spPr>
          <a:xfrm>
            <a:off x="850392" y="2752344"/>
            <a:ext cx="237744" cy="237744"/>
          </a:xfrm>
          <a:prstGeom prst="rect">
            <a:avLst/>
          </a:prstGeom>
        </p:spPr>
      </p:pic>
      <p:sp>
        <p:nvSpPr>
          <p:cNvPr id="12" name="Text 8"/>
          <p:cNvSpPr txBox="1"/>
          <p:nvPr/>
        </p:nvSpPr>
        <p:spPr>
          <a:xfrm>
            <a:off x="1371600" y="2542032"/>
            <a:ext cx="4754880" cy="274320"/>
          </a:xfrm>
          <a:prstGeom prst="rect">
            <a:avLst/>
          </a:prstGeom>
          <a:noFill/>
          <a:ln/>
        </p:spPr>
        <p:txBody>
          <a:bodyPr wrap="square" lIns="0" tIns="0" rIns="0" bIns="0" rtlCol="0" anchor="t"/>
          <a:lstStyle/>
          <a:p>
            <a:pPr indent="0" marL="0">
              <a:buNone/>
            </a:pPr>
            <a:r>
              <a:rPr lang="en-US" sz="1500" b="1" dirty="0">
                <a:solidFill>
                  <a:srgbClr val="0B2239"/>
                </a:solidFill>
                <a:latin typeface="Calibri" pitchFamily="34" charset="0"/>
                <a:ea typeface="Calibri" pitchFamily="34" charset="-122"/>
                <a:cs typeface="Calibri" pitchFamily="34" charset="-120"/>
              </a:rPr>
              <a:t>Explainability</a:t>
            </a:r>
            <a:endParaRPr lang="en-US" sz="1500" dirty="0"/>
          </a:p>
        </p:txBody>
      </p:sp>
      <p:sp>
        <p:nvSpPr>
          <p:cNvPr id="13" name="Text 9"/>
          <p:cNvSpPr txBox="1"/>
          <p:nvPr/>
        </p:nvSpPr>
        <p:spPr>
          <a:xfrm>
            <a:off x="1371600" y="2834640"/>
            <a:ext cx="4754880" cy="411480"/>
          </a:xfrm>
          <a:prstGeom prst="rect">
            <a:avLst/>
          </a:prstGeom>
          <a:noFill/>
          <a:ln/>
        </p:spPr>
        <p:txBody>
          <a:bodyPr wrap="square" lIns="0" tIns="0" rIns="0" bIns="0" rtlCol="0" anchor="t"/>
          <a:lstStyle/>
          <a:p>
            <a:pPr indent="0" marL="0">
              <a:buNone/>
            </a:pPr>
            <a:r>
              <a:rPr lang="en-US" sz="1200" dirty="0">
                <a:solidFill>
                  <a:srgbClr val="5B7185"/>
                </a:solidFill>
                <a:latin typeface="Calibri" pitchFamily="34" charset="0"/>
                <a:ea typeface="Calibri" pitchFamily="34" charset="-122"/>
                <a:cs typeface="Calibri" pitchFamily="34" charset="-120"/>
              </a:rPr>
              <a:t>Calculated data is deterministic; advice comes from AI/RAG. The two stay separate.</a:t>
            </a:r>
            <a:endParaRPr lang="en-US" sz="1200" dirty="0"/>
          </a:p>
        </p:txBody>
      </p:sp>
      <p:sp>
        <p:nvSpPr>
          <p:cNvPr id="14" name="Shape 10"/>
          <p:cNvSpPr/>
          <p:nvPr/>
        </p:nvSpPr>
        <p:spPr>
          <a:xfrm>
            <a:off x="548640" y="3392424"/>
            <a:ext cx="5760720" cy="841248"/>
          </a:xfrm>
          <a:prstGeom prst="roundRect">
            <a:avLst>
              <a:gd name="adj" fmla="val 13043"/>
            </a:avLst>
          </a:prstGeom>
          <a:solidFill>
            <a:srgbClr val="FFFFFF"/>
          </a:solidFill>
          <a:ln w="9525">
            <a:solidFill>
              <a:srgbClr val="D5E5EE"/>
            </a:solidFill>
            <a:prstDash val="solid"/>
          </a:ln>
          <a:effectLst>
            <a:outerShdw sx="100000" sy="100000" kx="0" ky="0" algn="bl" rotWithShape="0" blurRad="101600" dist="25400" dir="5400000">
              <a:srgbClr val="0B2239">
                <a:alpha val="12000"/>
              </a:srgbClr>
            </a:outerShdw>
          </a:effectLst>
        </p:spPr>
      </p:sp>
      <p:sp>
        <p:nvSpPr>
          <p:cNvPr id="15" name="Shape 11"/>
          <p:cNvSpPr/>
          <p:nvPr/>
        </p:nvSpPr>
        <p:spPr>
          <a:xfrm>
            <a:off x="731520" y="3575304"/>
            <a:ext cx="475488" cy="475488"/>
          </a:xfrm>
          <a:prstGeom prst="ellipse">
            <a:avLst/>
          </a:prstGeom>
          <a:solidFill>
            <a:srgbClr val="0B6E99"/>
          </a:solidFill>
          <a:ln w="12700">
            <a:solidFill>
              <a:srgbClr val="0B6E99"/>
            </a:solidFill>
            <a:prstDash val="solid"/>
          </a:ln>
        </p:spPr>
      </p:sp>
      <p:pic>
        <p:nvPicPr>
          <p:cNvPr id="16" name="Image 2" descr="preencoded.png">    </p:cNvPr>
          <p:cNvPicPr>
            <a:picLocks noChangeAspect="1"/>
          </p:cNvPicPr>
          <p:nvPr/>
        </p:nvPicPr>
        <p:blipFill>
          <a:blip r:embed="rId3"/>
          <a:stretch>
            <a:fillRect/>
          </a:stretch>
        </p:blipFill>
        <p:spPr>
          <a:xfrm>
            <a:off x="850392" y="3694176"/>
            <a:ext cx="237744" cy="237744"/>
          </a:xfrm>
          <a:prstGeom prst="rect">
            <a:avLst/>
          </a:prstGeom>
        </p:spPr>
      </p:pic>
      <p:sp>
        <p:nvSpPr>
          <p:cNvPr id="17" name="Text 12"/>
          <p:cNvSpPr txBox="1"/>
          <p:nvPr/>
        </p:nvSpPr>
        <p:spPr>
          <a:xfrm>
            <a:off x="1371600" y="3483864"/>
            <a:ext cx="4754880" cy="274320"/>
          </a:xfrm>
          <a:prstGeom prst="rect">
            <a:avLst/>
          </a:prstGeom>
          <a:noFill/>
          <a:ln/>
        </p:spPr>
        <p:txBody>
          <a:bodyPr wrap="square" lIns="0" tIns="0" rIns="0" bIns="0" rtlCol="0" anchor="t"/>
          <a:lstStyle/>
          <a:p>
            <a:pPr indent="0" marL="0">
              <a:buNone/>
            </a:pPr>
            <a:r>
              <a:rPr lang="en-US" sz="1500" b="1" dirty="0">
                <a:solidFill>
                  <a:srgbClr val="0B2239"/>
                </a:solidFill>
                <a:latin typeface="Calibri" pitchFamily="34" charset="0"/>
                <a:ea typeface="Calibri" pitchFamily="34" charset="-122"/>
                <a:cs typeface="Calibri" pitchFamily="34" charset="-120"/>
              </a:rPr>
              <a:t>Non-judgmental</a:t>
            </a:r>
            <a:endParaRPr lang="en-US" sz="1500" dirty="0"/>
          </a:p>
        </p:txBody>
      </p:sp>
      <p:sp>
        <p:nvSpPr>
          <p:cNvPr id="18" name="Text 13"/>
          <p:cNvSpPr txBox="1"/>
          <p:nvPr/>
        </p:nvSpPr>
        <p:spPr>
          <a:xfrm>
            <a:off x="1371600" y="3776472"/>
            <a:ext cx="4754880" cy="411480"/>
          </a:xfrm>
          <a:prstGeom prst="rect">
            <a:avLst/>
          </a:prstGeom>
          <a:noFill/>
          <a:ln/>
        </p:spPr>
        <p:txBody>
          <a:bodyPr wrap="square" lIns="0" tIns="0" rIns="0" bIns="0" rtlCol="0" anchor="t"/>
          <a:lstStyle/>
          <a:p>
            <a:pPr indent="0" marL="0">
              <a:buNone/>
            </a:pPr>
            <a:r>
              <a:rPr lang="en-US" sz="1200" dirty="0">
                <a:solidFill>
                  <a:srgbClr val="5B7185"/>
                </a:solidFill>
                <a:latin typeface="Calibri" pitchFamily="34" charset="0"/>
                <a:ea typeface="Calibri" pitchFamily="34" charset="-122"/>
                <a:cs typeface="Calibri" pitchFamily="34" charset="-120"/>
              </a:rPr>
              <a:t>Encouraging, supportive recommendations that never blame users.</a:t>
            </a:r>
            <a:endParaRPr lang="en-US" sz="1200" dirty="0"/>
          </a:p>
        </p:txBody>
      </p:sp>
      <p:sp>
        <p:nvSpPr>
          <p:cNvPr id="19" name="Shape 14"/>
          <p:cNvSpPr/>
          <p:nvPr/>
        </p:nvSpPr>
        <p:spPr>
          <a:xfrm>
            <a:off x="548640" y="4334256"/>
            <a:ext cx="5760720" cy="841248"/>
          </a:xfrm>
          <a:prstGeom prst="roundRect">
            <a:avLst>
              <a:gd name="adj" fmla="val 13043"/>
            </a:avLst>
          </a:prstGeom>
          <a:solidFill>
            <a:srgbClr val="FFFFFF"/>
          </a:solidFill>
          <a:ln w="9525">
            <a:solidFill>
              <a:srgbClr val="D5E5EE"/>
            </a:solidFill>
            <a:prstDash val="solid"/>
          </a:ln>
          <a:effectLst>
            <a:outerShdw sx="100000" sy="100000" kx="0" ky="0" algn="bl" rotWithShape="0" blurRad="101600" dist="25400" dir="5400000">
              <a:srgbClr val="0B2239">
                <a:alpha val="12000"/>
              </a:srgbClr>
            </a:outerShdw>
          </a:effectLst>
        </p:spPr>
      </p:sp>
      <p:sp>
        <p:nvSpPr>
          <p:cNvPr id="20" name="Shape 15"/>
          <p:cNvSpPr/>
          <p:nvPr/>
        </p:nvSpPr>
        <p:spPr>
          <a:xfrm>
            <a:off x="731520" y="4517136"/>
            <a:ext cx="475488" cy="475488"/>
          </a:xfrm>
          <a:prstGeom prst="ellipse">
            <a:avLst/>
          </a:prstGeom>
          <a:solidFill>
            <a:srgbClr val="0FB5A6"/>
          </a:solidFill>
          <a:ln w="12700">
            <a:solidFill>
              <a:srgbClr val="0FB5A6"/>
            </a:solidFill>
            <a:prstDash val="solid"/>
          </a:ln>
        </p:spPr>
      </p:sp>
      <p:pic>
        <p:nvPicPr>
          <p:cNvPr id="21" name="Image 3" descr="preencoded.png">    </p:cNvPr>
          <p:cNvPicPr>
            <a:picLocks noChangeAspect="1"/>
          </p:cNvPicPr>
          <p:nvPr/>
        </p:nvPicPr>
        <p:blipFill>
          <a:blip r:embed="rId4"/>
          <a:stretch>
            <a:fillRect/>
          </a:stretch>
        </p:blipFill>
        <p:spPr>
          <a:xfrm>
            <a:off x="850392" y="4636008"/>
            <a:ext cx="237744" cy="237744"/>
          </a:xfrm>
          <a:prstGeom prst="rect">
            <a:avLst/>
          </a:prstGeom>
        </p:spPr>
      </p:pic>
      <p:sp>
        <p:nvSpPr>
          <p:cNvPr id="22" name="Text 16"/>
          <p:cNvSpPr txBox="1"/>
          <p:nvPr/>
        </p:nvSpPr>
        <p:spPr>
          <a:xfrm>
            <a:off x="1371600" y="4425696"/>
            <a:ext cx="4754880" cy="274320"/>
          </a:xfrm>
          <a:prstGeom prst="rect">
            <a:avLst/>
          </a:prstGeom>
          <a:noFill/>
          <a:ln/>
        </p:spPr>
        <p:txBody>
          <a:bodyPr wrap="square" lIns="0" tIns="0" rIns="0" bIns="0" rtlCol="0" anchor="t"/>
          <a:lstStyle/>
          <a:p>
            <a:pPr indent="0" marL="0">
              <a:buNone/>
            </a:pPr>
            <a:r>
              <a:rPr lang="en-US" sz="1500" b="1" dirty="0">
                <a:solidFill>
                  <a:srgbClr val="0B2239"/>
                </a:solidFill>
                <a:latin typeface="Calibri" pitchFamily="34" charset="0"/>
                <a:ea typeface="Calibri" pitchFamily="34" charset="-122"/>
                <a:cs typeface="Calibri" pitchFamily="34" charset="-120"/>
              </a:rPr>
              <a:t>Grounded</a:t>
            </a:r>
            <a:endParaRPr lang="en-US" sz="1500" dirty="0"/>
          </a:p>
        </p:txBody>
      </p:sp>
      <p:sp>
        <p:nvSpPr>
          <p:cNvPr id="23" name="Text 17"/>
          <p:cNvSpPr txBox="1"/>
          <p:nvPr/>
        </p:nvSpPr>
        <p:spPr>
          <a:xfrm>
            <a:off x="1371600" y="4718304"/>
            <a:ext cx="4754880" cy="411480"/>
          </a:xfrm>
          <a:prstGeom prst="rect">
            <a:avLst/>
          </a:prstGeom>
          <a:noFill/>
          <a:ln/>
        </p:spPr>
        <p:txBody>
          <a:bodyPr wrap="square" lIns="0" tIns="0" rIns="0" bIns="0" rtlCol="0" anchor="t"/>
          <a:lstStyle/>
          <a:p>
            <a:pPr indent="0" marL="0">
              <a:buNone/>
            </a:pPr>
            <a:r>
              <a:rPr lang="en-US" sz="1200" dirty="0">
                <a:solidFill>
                  <a:srgbClr val="5B7185"/>
                </a:solidFill>
                <a:latin typeface="Calibri" pitchFamily="34" charset="0"/>
                <a:ea typeface="Calibri" pitchFamily="34" charset="-122"/>
                <a:cs typeface="Calibri" pitchFamily="34" charset="-120"/>
              </a:rPr>
              <a:t>Answers draw on a curated water-conservation knowledge base.</a:t>
            </a:r>
            <a:endParaRPr lang="en-US" sz="1200" dirty="0"/>
          </a:p>
        </p:txBody>
      </p:sp>
      <p:sp>
        <p:nvSpPr>
          <p:cNvPr id="24" name="Shape 18"/>
          <p:cNvSpPr/>
          <p:nvPr/>
        </p:nvSpPr>
        <p:spPr>
          <a:xfrm>
            <a:off x="548640" y="5276088"/>
            <a:ext cx="5760720" cy="841248"/>
          </a:xfrm>
          <a:prstGeom prst="roundRect">
            <a:avLst>
              <a:gd name="adj" fmla="val 13043"/>
            </a:avLst>
          </a:prstGeom>
          <a:solidFill>
            <a:srgbClr val="FFFFFF"/>
          </a:solidFill>
          <a:ln w="9525">
            <a:solidFill>
              <a:srgbClr val="D5E5EE"/>
            </a:solidFill>
            <a:prstDash val="solid"/>
          </a:ln>
          <a:effectLst>
            <a:outerShdw sx="100000" sy="100000" kx="0" ky="0" algn="bl" rotWithShape="0" blurRad="101600" dist="25400" dir="5400000">
              <a:srgbClr val="0B2239">
                <a:alpha val="12000"/>
              </a:srgbClr>
            </a:outerShdw>
          </a:effectLst>
        </p:spPr>
      </p:sp>
      <p:sp>
        <p:nvSpPr>
          <p:cNvPr id="25" name="Shape 19"/>
          <p:cNvSpPr/>
          <p:nvPr/>
        </p:nvSpPr>
        <p:spPr>
          <a:xfrm>
            <a:off x="731520" y="5458968"/>
            <a:ext cx="475488" cy="475488"/>
          </a:xfrm>
          <a:prstGeom prst="ellipse">
            <a:avLst/>
          </a:prstGeom>
          <a:solidFill>
            <a:srgbClr val="0B6E99"/>
          </a:solidFill>
          <a:ln w="12700">
            <a:solidFill>
              <a:srgbClr val="0B6E99"/>
            </a:solidFill>
            <a:prstDash val="solid"/>
          </a:ln>
        </p:spPr>
      </p:sp>
      <p:pic>
        <p:nvPicPr>
          <p:cNvPr id="26" name="Image 4" descr="preencoded.png">    </p:cNvPr>
          <p:cNvPicPr>
            <a:picLocks noChangeAspect="1"/>
          </p:cNvPicPr>
          <p:nvPr/>
        </p:nvPicPr>
        <p:blipFill>
          <a:blip r:embed="rId5"/>
          <a:stretch>
            <a:fillRect/>
          </a:stretch>
        </p:blipFill>
        <p:spPr>
          <a:xfrm>
            <a:off x="850392" y="5577840"/>
            <a:ext cx="237744" cy="237744"/>
          </a:xfrm>
          <a:prstGeom prst="rect">
            <a:avLst/>
          </a:prstGeom>
        </p:spPr>
      </p:pic>
      <p:sp>
        <p:nvSpPr>
          <p:cNvPr id="27" name="Text 20"/>
          <p:cNvSpPr txBox="1"/>
          <p:nvPr/>
        </p:nvSpPr>
        <p:spPr>
          <a:xfrm>
            <a:off x="1371600" y="5367528"/>
            <a:ext cx="4754880" cy="274320"/>
          </a:xfrm>
          <a:prstGeom prst="rect">
            <a:avLst/>
          </a:prstGeom>
          <a:noFill/>
          <a:ln/>
        </p:spPr>
        <p:txBody>
          <a:bodyPr wrap="square" lIns="0" tIns="0" rIns="0" bIns="0" rtlCol="0" anchor="t"/>
          <a:lstStyle/>
          <a:p>
            <a:pPr indent="0" marL="0">
              <a:buNone/>
            </a:pPr>
            <a:r>
              <a:rPr lang="en-US" sz="1500" b="1" dirty="0">
                <a:solidFill>
                  <a:srgbClr val="0B2239"/>
                </a:solidFill>
                <a:latin typeface="Calibri" pitchFamily="34" charset="0"/>
                <a:ea typeface="Calibri" pitchFamily="34" charset="-122"/>
                <a:cs typeface="Calibri" pitchFamily="34" charset="-120"/>
              </a:rPr>
              <a:t>Privacy</a:t>
            </a:r>
            <a:endParaRPr lang="en-US" sz="1500" dirty="0"/>
          </a:p>
        </p:txBody>
      </p:sp>
      <p:sp>
        <p:nvSpPr>
          <p:cNvPr id="28" name="Text 21"/>
          <p:cNvSpPr txBox="1"/>
          <p:nvPr/>
        </p:nvSpPr>
        <p:spPr>
          <a:xfrm>
            <a:off x="1371600" y="5660136"/>
            <a:ext cx="4754880" cy="411480"/>
          </a:xfrm>
          <a:prstGeom prst="rect">
            <a:avLst/>
          </a:prstGeom>
          <a:noFill/>
          <a:ln/>
        </p:spPr>
        <p:txBody>
          <a:bodyPr wrap="square" lIns="0" tIns="0" rIns="0" bIns="0" rtlCol="0" anchor="t"/>
          <a:lstStyle/>
          <a:p>
            <a:pPr indent="0" marL="0">
              <a:buNone/>
            </a:pPr>
            <a:r>
              <a:rPr lang="en-US" sz="1200" dirty="0">
                <a:solidFill>
                  <a:srgbClr val="5B7185"/>
                </a:solidFill>
                <a:latin typeface="Calibri" pitchFamily="34" charset="0"/>
                <a:ea typeface="Calibri" pitchFamily="34" charset="-122"/>
                <a:cs typeface="Calibri" pitchFamily="34" charset="-120"/>
              </a:rPr>
              <a:t>Stateless architecture; assessment data is not permanently stored.</a:t>
            </a:r>
            <a:endParaRPr lang="en-US" sz="1200" dirty="0"/>
          </a:p>
        </p:txBody>
      </p:sp>
      <p:sp>
        <p:nvSpPr>
          <p:cNvPr id="29" name="Text 22"/>
          <p:cNvSpPr txBox="1"/>
          <p:nvPr/>
        </p:nvSpPr>
        <p:spPr>
          <a:xfrm>
            <a:off x="6675120" y="1508760"/>
            <a:ext cx="4937760" cy="365760"/>
          </a:xfrm>
          <a:prstGeom prst="rect">
            <a:avLst/>
          </a:prstGeom>
          <a:noFill/>
          <a:ln/>
        </p:spPr>
        <p:txBody>
          <a:bodyPr wrap="square" lIns="0" tIns="0" rIns="0" bIns="0" rtlCol="0" anchor="t"/>
          <a:lstStyle/>
          <a:p>
            <a:pPr indent="0" marL="0">
              <a:buNone/>
            </a:pPr>
            <a:r>
              <a:rPr lang="en-US" sz="2000" b="1" dirty="0">
                <a:solidFill>
                  <a:srgbClr val="0B2239"/>
                </a:solidFill>
                <a:latin typeface="Cambria" pitchFamily="34" charset="0"/>
                <a:ea typeface="Cambria" pitchFamily="34" charset="-122"/>
                <a:cs typeface="Cambria" pitchFamily="34" charset="-120"/>
              </a:rPr>
              <a:t>What makes SWUA different</a:t>
            </a:r>
            <a:endParaRPr lang="en-US" sz="2000" dirty="0"/>
          </a:p>
        </p:txBody>
      </p:sp>
      <p:sp>
        <p:nvSpPr>
          <p:cNvPr id="30" name="Shape 23"/>
          <p:cNvSpPr/>
          <p:nvPr/>
        </p:nvSpPr>
        <p:spPr>
          <a:xfrm>
            <a:off x="6675120" y="2057400"/>
            <a:ext cx="4965192" cy="1097280"/>
          </a:xfrm>
          <a:prstGeom prst="roundRect">
            <a:avLst>
              <a:gd name="adj" fmla="val 10000"/>
            </a:avLst>
          </a:prstGeom>
          <a:solidFill>
            <a:srgbClr val="FFFFFF"/>
          </a:solidFill>
          <a:ln w="9525">
            <a:solidFill>
              <a:srgbClr val="D5E5EE"/>
            </a:solidFill>
            <a:prstDash val="solid"/>
          </a:ln>
          <a:effectLst>
            <a:outerShdw sx="100000" sy="100000" kx="0" ky="0" algn="bl" rotWithShape="0" blurRad="101600" dist="25400" dir="5400000">
              <a:srgbClr val="0B2239">
                <a:alpha val="12000"/>
              </a:srgbClr>
            </a:outerShdw>
          </a:effectLst>
        </p:spPr>
      </p:sp>
      <p:sp>
        <p:nvSpPr>
          <p:cNvPr id="31" name="Text 24"/>
          <p:cNvSpPr txBox="1"/>
          <p:nvPr/>
        </p:nvSpPr>
        <p:spPr>
          <a:xfrm>
            <a:off x="6949440" y="2194560"/>
            <a:ext cx="4389120" cy="228600"/>
          </a:xfrm>
          <a:prstGeom prst="rect">
            <a:avLst/>
          </a:prstGeom>
          <a:noFill/>
          <a:ln/>
        </p:spPr>
        <p:txBody>
          <a:bodyPr wrap="square" lIns="0" tIns="0" rIns="0" bIns="0" rtlCol="0" anchor="t"/>
          <a:lstStyle/>
          <a:p>
            <a:pPr indent="0" marL="0">
              <a:buNone/>
            </a:pPr>
            <a:r>
              <a:rPr lang="en-US" sz="1100" b="1" spc="200" kern="0" dirty="0">
                <a:solidFill>
                  <a:srgbClr val="5B7185"/>
                </a:solidFill>
                <a:latin typeface="Calibri" pitchFamily="34" charset="0"/>
                <a:ea typeface="Calibri" pitchFamily="34" charset="-122"/>
                <a:cs typeface="Calibri" pitchFamily="34" charset="-120"/>
              </a:rPr>
              <a:t>TYPICAL WATER CALCULATOR</a:t>
            </a:r>
            <a:endParaRPr lang="en-US" sz="1100" dirty="0"/>
          </a:p>
        </p:txBody>
      </p:sp>
      <p:sp>
        <p:nvSpPr>
          <p:cNvPr id="32" name="Text 25"/>
          <p:cNvSpPr txBox="1"/>
          <p:nvPr/>
        </p:nvSpPr>
        <p:spPr>
          <a:xfrm>
            <a:off x="6949440" y="2514600"/>
            <a:ext cx="4389120" cy="457200"/>
          </a:xfrm>
          <a:prstGeom prst="rect">
            <a:avLst/>
          </a:prstGeom>
          <a:noFill/>
          <a:ln/>
        </p:spPr>
        <p:txBody>
          <a:bodyPr wrap="square" lIns="0" tIns="0" rIns="0" bIns="0" rtlCol="0" anchor="t"/>
          <a:lstStyle/>
          <a:p>
            <a:pPr indent="0" marL="0">
              <a:buNone/>
            </a:pPr>
            <a:r>
              <a:rPr lang="en-US" sz="1800" i="1" dirty="0">
                <a:solidFill>
                  <a:srgbClr val="0B2239"/>
                </a:solidFill>
                <a:latin typeface="Cambria" pitchFamily="34" charset="0"/>
                <a:ea typeface="Cambria" pitchFamily="34" charset="-122"/>
                <a:cs typeface="Cambria" pitchFamily="34" charset="-120"/>
              </a:rPr>
              <a:t>“You consume X litres/day.”</a:t>
            </a:r>
            <a:endParaRPr lang="en-US" sz="1800" dirty="0"/>
          </a:p>
        </p:txBody>
      </p:sp>
      <p:sp>
        <p:nvSpPr>
          <p:cNvPr id="33" name="Shape 26"/>
          <p:cNvSpPr/>
          <p:nvPr/>
        </p:nvSpPr>
        <p:spPr>
          <a:xfrm>
            <a:off x="6675120" y="3337560"/>
            <a:ext cx="4965192" cy="1600200"/>
          </a:xfrm>
          <a:prstGeom prst="roundRect">
            <a:avLst>
              <a:gd name="adj" fmla="val 6857"/>
            </a:avLst>
          </a:prstGeom>
          <a:solidFill>
            <a:srgbClr val="062A40"/>
          </a:solidFill>
          <a:ln w="9525">
            <a:solidFill>
              <a:srgbClr val="062A40"/>
            </a:solidFill>
            <a:prstDash val="solid"/>
          </a:ln>
        </p:spPr>
      </p:sp>
      <p:sp>
        <p:nvSpPr>
          <p:cNvPr id="34" name="Text 27"/>
          <p:cNvSpPr txBox="1"/>
          <p:nvPr/>
        </p:nvSpPr>
        <p:spPr>
          <a:xfrm>
            <a:off x="6949440" y="3474720"/>
            <a:ext cx="4389120" cy="228600"/>
          </a:xfrm>
          <a:prstGeom prst="rect">
            <a:avLst/>
          </a:prstGeom>
          <a:noFill/>
          <a:ln/>
        </p:spPr>
        <p:txBody>
          <a:bodyPr wrap="square" lIns="0" tIns="0" rIns="0" bIns="0" rtlCol="0" anchor="t"/>
          <a:lstStyle/>
          <a:p>
            <a:pPr indent="0" marL="0">
              <a:buNone/>
            </a:pPr>
            <a:r>
              <a:rPr lang="en-US" sz="1100" b="1" spc="200" kern="0" dirty="0">
                <a:solidFill>
                  <a:srgbClr val="0FB5A6"/>
                </a:solidFill>
                <a:latin typeface="Calibri" pitchFamily="34" charset="0"/>
                <a:ea typeface="Calibri" pitchFamily="34" charset="-122"/>
                <a:cs typeface="Calibri" pitchFamily="34" charset="-120"/>
              </a:rPr>
              <a:t>SWUA</a:t>
            </a:r>
            <a:endParaRPr lang="en-US" sz="1100" dirty="0"/>
          </a:p>
        </p:txBody>
      </p:sp>
      <p:sp>
        <p:nvSpPr>
          <p:cNvPr id="35" name="Text 28"/>
          <p:cNvSpPr txBox="1"/>
          <p:nvPr/>
        </p:nvSpPr>
        <p:spPr>
          <a:xfrm>
            <a:off x="6949440" y="3794760"/>
            <a:ext cx="4434840" cy="1051560"/>
          </a:xfrm>
          <a:prstGeom prst="rect">
            <a:avLst/>
          </a:prstGeom>
          <a:noFill/>
          <a:ln/>
        </p:spPr>
        <p:txBody>
          <a:bodyPr wrap="square" lIns="0" tIns="0" rIns="0" bIns="0" rtlCol="0" anchor="t"/>
          <a:lstStyle/>
          <a:p>
            <a:pPr indent="0" marL="0">
              <a:buNone/>
            </a:pPr>
            <a:r>
              <a:rPr lang="en-US" sz="1500" dirty="0">
                <a:solidFill>
                  <a:srgbClr val="FFFFFF"/>
                </a:solidFill>
                <a:latin typeface="Calibri" pitchFamily="34" charset="0"/>
                <a:ea typeface="Calibri" pitchFamily="34" charset="-122"/>
                <a:cs typeface="Calibri" pitchFamily="34" charset="-120"/>
              </a:rPr>
              <a:t>X litres/day  →  major consumption areas  →  potential wastage points  →  contextual guidance on how to reduce them</a:t>
            </a:r>
            <a:endParaRPr lang="en-US" sz="1500" dirty="0"/>
          </a:p>
        </p:txBody>
      </p:sp>
      <p:sp>
        <p:nvSpPr>
          <p:cNvPr id="36" name="Shape 29"/>
          <p:cNvSpPr/>
          <p:nvPr/>
        </p:nvSpPr>
        <p:spPr>
          <a:xfrm>
            <a:off x="6675120" y="5120640"/>
            <a:ext cx="4965192" cy="1051560"/>
          </a:xfrm>
          <a:prstGeom prst="roundRect">
            <a:avLst>
              <a:gd name="adj" fmla="val 10435"/>
            </a:avLst>
          </a:prstGeom>
          <a:solidFill>
            <a:srgbClr val="E3F1F7"/>
          </a:solidFill>
          <a:ln w="9525">
            <a:solidFill>
              <a:srgbClr val="E3F1F7"/>
            </a:solidFill>
            <a:prstDash val="solid"/>
          </a:ln>
        </p:spPr>
      </p:sp>
      <p:sp>
        <p:nvSpPr>
          <p:cNvPr id="37" name="Text 30"/>
          <p:cNvSpPr txBox="1"/>
          <p:nvPr/>
        </p:nvSpPr>
        <p:spPr>
          <a:xfrm>
            <a:off x="6949440" y="5120640"/>
            <a:ext cx="4434840" cy="1051560"/>
          </a:xfrm>
          <a:prstGeom prst="rect">
            <a:avLst/>
          </a:prstGeom>
          <a:noFill/>
          <a:ln/>
        </p:spPr>
        <p:txBody>
          <a:bodyPr wrap="square" lIns="0" tIns="0" rIns="0" bIns="0" rtlCol="0" anchor="ctr"/>
          <a:lstStyle/>
          <a:p>
            <a:pPr indent="0" marL="0">
              <a:buNone/>
            </a:pPr>
            <a:r>
              <a:rPr lang="en-US" sz="1350" b="1" dirty="0">
                <a:solidFill>
                  <a:srgbClr val="0B6E99"/>
                </a:solidFill>
                <a:latin typeface="Calibri" pitchFamily="34" charset="0"/>
                <a:ea typeface="Calibri" pitchFamily="34" charset="-122"/>
                <a:cs typeface="Calibri" pitchFamily="34" charset="-120"/>
              </a:rPr>
              <a:t>Central innovation: </a:t>
            </a:r>
            <a:pPr indent="0" marL="0">
              <a:buNone/>
            </a:pPr>
            <a:r>
              <a:rPr lang="en-US" sz="1350" dirty="0">
                <a:solidFill>
                  <a:srgbClr val="0B2239"/>
                </a:solidFill>
                <a:latin typeface="Calibri" pitchFamily="34" charset="0"/>
                <a:ea typeface="Calibri" pitchFamily="34" charset="-122"/>
                <a:cs typeface="Calibri" pitchFamily="34" charset="-120"/>
              </a:rPr>
              <a:t>deterministic calculations + wastage analysis + RAG + conversational AI + local fallback</a:t>
            </a:r>
            <a:endParaRPr lang="en-US" sz="1350" dirty="0"/>
          </a:p>
        </p:txBody>
      </p:sp>
      <p:sp>
        <p:nvSpPr>
          <p:cNvPr id="38" name="Text 31"/>
          <p:cNvSpPr txBox="1"/>
          <p:nvPr/>
        </p:nvSpPr>
        <p:spPr>
          <a:xfrm>
            <a:off x="548640" y="6510528"/>
            <a:ext cx="5486400" cy="228600"/>
          </a:xfrm>
          <a:prstGeom prst="rect">
            <a:avLst/>
          </a:prstGeom>
          <a:noFill/>
          <a:ln/>
        </p:spPr>
        <p:txBody>
          <a:bodyPr wrap="square" lIns="0" tIns="0" rIns="0" bIns="0" rtlCol="0" anchor="t"/>
          <a:lstStyle/>
          <a:p>
            <a:pPr indent="0" marL="0">
              <a:buNone/>
            </a:pPr>
            <a:r>
              <a:rPr lang="en-US" sz="1000" dirty="0">
                <a:solidFill>
                  <a:srgbClr val="5B7185"/>
                </a:solidFill>
                <a:latin typeface="Calibri" pitchFamily="34" charset="0"/>
                <a:ea typeface="Calibri" pitchFamily="34" charset="-122"/>
                <a:cs typeface="Calibri" pitchFamily="34" charset="-120"/>
              </a:rPr>
              <a:t>Smart Water Usage Advisor  |  SDG 6.4</a:t>
            </a:r>
            <a:endParaRPr lang="en-US" sz="1000" dirty="0"/>
          </a:p>
        </p:txBody>
      </p:sp>
      <p:sp>
        <p:nvSpPr>
          <p:cNvPr id="39" name="Text 32"/>
          <p:cNvSpPr txBox="1"/>
          <p:nvPr/>
        </p:nvSpPr>
        <p:spPr>
          <a:xfrm>
            <a:off x="10725912" y="6510528"/>
            <a:ext cx="914400" cy="228600"/>
          </a:xfrm>
          <a:prstGeom prst="rect">
            <a:avLst/>
          </a:prstGeom>
          <a:noFill/>
          <a:ln/>
        </p:spPr>
        <p:txBody>
          <a:bodyPr wrap="square" lIns="0" tIns="0" rIns="0" bIns="0" rtlCol="0" anchor="t"/>
          <a:lstStyle/>
          <a:p>
            <a:pPr algn="r" indent="0" marL="0">
              <a:buNone/>
            </a:pPr>
            <a:r>
              <a:rPr lang="en-US" sz="1000" dirty="0">
                <a:solidFill>
                  <a:srgbClr val="5B7185"/>
                </a:solidFill>
                <a:latin typeface="Calibri" pitchFamily="34" charset="0"/>
                <a:ea typeface="Calibri" pitchFamily="34" charset="-122"/>
                <a:cs typeface="Calibri" pitchFamily="34" charset="-120"/>
              </a:rPr>
              <a:t>8 / 9</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62A40"/>
        </a:solidFill>
      </p:bgPr>
    </p:bg>
    <p:spTree>
      <p:nvGrpSpPr>
        <p:cNvPr id="1" name=""/>
        <p:cNvGrpSpPr/>
        <p:nvPr/>
      </p:nvGrpSpPr>
      <p:grpSpPr>
        <a:xfrm>
          <a:off x="0" y="0"/>
          <a:ext cx="0" cy="0"/>
          <a:chOff x="0" y="0"/>
          <a:chExt cx="0" cy="0"/>
        </a:xfrm>
      </p:grpSpPr>
      <p:sp>
        <p:nvSpPr>
          <p:cNvPr id="2" name="Text 0"/>
          <p:cNvSpPr txBox="1"/>
          <p:nvPr/>
        </p:nvSpPr>
        <p:spPr>
          <a:xfrm>
            <a:off x="548640" y="365760"/>
            <a:ext cx="7315200" cy="274320"/>
          </a:xfrm>
          <a:prstGeom prst="rect">
            <a:avLst/>
          </a:prstGeom>
          <a:noFill/>
          <a:ln/>
        </p:spPr>
        <p:txBody>
          <a:bodyPr wrap="square" lIns="0" tIns="0" rIns="0" bIns="0" rtlCol="0" anchor="t"/>
          <a:lstStyle/>
          <a:p>
            <a:pPr indent="0" marL="0">
              <a:buNone/>
            </a:pPr>
            <a:r>
              <a:rPr lang="en-US" sz="1200" b="1" spc="300" kern="0" dirty="0">
                <a:solidFill>
                  <a:srgbClr val="0FB5A6"/>
                </a:solidFill>
                <a:latin typeface="Calibri" pitchFamily="34" charset="0"/>
                <a:ea typeface="Calibri" pitchFamily="34" charset="-122"/>
                <a:cs typeface="Calibri" pitchFamily="34" charset="-120"/>
              </a:rPr>
              <a:t>08  LIMITATIONS &amp; FUTURE SCOPE</a:t>
            </a:r>
            <a:endParaRPr lang="en-US" sz="1200" dirty="0"/>
          </a:p>
        </p:txBody>
      </p:sp>
      <p:sp>
        <p:nvSpPr>
          <p:cNvPr id="3" name="Text 1"/>
          <p:cNvSpPr txBox="1"/>
          <p:nvPr/>
        </p:nvSpPr>
        <p:spPr>
          <a:xfrm>
            <a:off x="548640" y="658368"/>
            <a:ext cx="11064240" cy="640080"/>
          </a:xfrm>
          <a:prstGeom prst="rect">
            <a:avLst/>
          </a:prstGeom>
          <a:noFill/>
          <a:ln/>
        </p:spPr>
        <p:txBody>
          <a:bodyPr wrap="square" lIns="0" tIns="0" rIns="0" bIns="0" rtlCol="0" anchor="t"/>
          <a:lstStyle/>
          <a:p>
            <a:pPr indent="0" marL="0">
              <a:buNone/>
            </a:pPr>
            <a:r>
              <a:rPr lang="en-US" sz="3200" b="1" dirty="0">
                <a:solidFill>
                  <a:srgbClr val="FFFFFF"/>
                </a:solidFill>
                <a:latin typeface="Cambria" pitchFamily="34" charset="0"/>
                <a:ea typeface="Cambria" pitchFamily="34" charset="-122"/>
                <a:cs typeface="Cambria" pitchFamily="34" charset="-120"/>
              </a:rPr>
              <a:t>Honest Limits, Clear Next Steps</a:t>
            </a:r>
            <a:endParaRPr lang="en-US" sz="3200" dirty="0"/>
          </a:p>
        </p:txBody>
      </p:sp>
      <p:sp>
        <p:nvSpPr>
          <p:cNvPr id="4" name="Shape 2"/>
          <p:cNvSpPr/>
          <p:nvPr/>
        </p:nvSpPr>
        <p:spPr>
          <a:xfrm>
            <a:off x="548640" y="1508760"/>
            <a:ext cx="5394960" cy="3154680"/>
          </a:xfrm>
          <a:prstGeom prst="roundRect">
            <a:avLst>
              <a:gd name="adj" fmla="val 3478"/>
            </a:avLst>
          </a:prstGeom>
          <a:solidFill>
            <a:srgbClr val="0B3A57"/>
          </a:solidFill>
          <a:ln w="9525">
            <a:solidFill>
              <a:srgbClr val="0B3A57"/>
            </a:solidFill>
            <a:prstDash val="solid"/>
          </a:ln>
        </p:spPr>
      </p:sp>
      <p:sp>
        <p:nvSpPr>
          <p:cNvPr id="5" name="Shape 3"/>
          <p:cNvSpPr/>
          <p:nvPr/>
        </p:nvSpPr>
        <p:spPr>
          <a:xfrm>
            <a:off x="822960" y="1737360"/>
            <a:ext cx="457200" cy="457200"/>
          </a:xfrm>
          <a:prstGeom prst="ellipse">
            <a:avLst/>
          </a:prstGeom>
          <a:solidFill>
            <a:srgbClr val="F59E0B"/>
          </a:solidFill>
          <a:ln w="12700">
            <a:solidFill>
              <a:srgbClr val="F59E0B"/>
            </a:solidFill>
            <a:prstDash val="solid"/>
          </a:ln>
        </p:spPr>
      </p:sp>
      <p:pic>
        <p:nvPicPr>
          <p:cNvPr id="6" name="Image 0" descr="preencoded.png">    </p:cNvPr>
          <p:cNvPicPr>
            <a:picLocks noChangeAspect="1"/>
          </p:cNvPicPr>
          <p:nvPr/>
        </p:nvPicPr>
        <p:blipFill>
          <a:blip r:embed="rId1"/>
          <a:stretch>
            <a:fillRect/>
          </a:stretch>
        </p:blipFill>
        <p:spPr>
          <a:xfrm>
            <a:off x="937260" y="1851660"/>
            <a:ext cx="228600" cy="228600"/>
          </a:xfrm>
          <a:prstGeom prst="rect">
            <a:avLst/>
          </a:prstGeom>
        </p:spPr>
      </p:pic>
      <p:sp>
        <p:nvSpPr>
          <p:cNvPr id="7" name="Text 4"/>
          <p:cNvSpPr txBox="1"/>
          <p:nvPr/>
        </p:nvSpPr>
        <p:spPr>
          <a:xfrm>
            <a:off x="1417320" y="1810512"/>
            <a:ext cx="3657600" cy="365760"/>
          </a:xfrm>
          <a:prstGeom prst="rect">
            <a:avLst/>
          </a:prstGeom>
          <a:noFill/>
          <a:ln/>
        </p:spPr>
        <p:txBody>
          <a:bodyPr wrap="square" lIns="0" tIns="0" rIns="0" bIns="0" rtlCol="0" anchor="t"/>
          <a:lstStyle/>
          <a:p>
            <a:pPr indent="0" marL="0">
              <a:buNone/>
            </a:pPr>
            <a:r>
              <a:rPr lang="en-US" sz="2000" b="1" dirty="0">
                <a:solidFill>
                  <a:srgbClr val="FFFFFF"/>
                </a:solidFill>
                <a:latin typeface="Cambria" pitchFamily="34" charset="0"/>
                <a:ea typeface="Cambria" pitchFamily="34" charset="-122"/>
                <a:cs typeface="Cambria" pitchFamily="34" charset="-120"/>
              </a:rPr>
              <a:t>Limitations</a:t>
            </a:r>
            <a:endParaRPr lang="en-US" sz="2000" dirty="0"/>
          </a:p>
        </p:txBody>
      </p:sp>
      <p:sp>
        <p:nvSpPr>
          <p:cNvPr id="8" name="Text 5"/>
          <p:cNvSpPr txBox="1"/>
          <p:nvPr/>
        </p:nvSpPr>
        <p:spPr>
          <a:xfrm>
            <a:off x="822960" y="2468880"/>
            <a:ext cx="4846320" cy="210312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CFE8F3"/>
                </a:solidFill>
                <a:latin typeface="Calibri" pitchFamily="34" charset="0"/>
                <a:ea typeface="Calibri" pitchFamily="34" charset="-122"/>
                <a:cs typeface="Calibri" pitchFamily="34" charset="-120"/>
              </a:rPr>
              <a:t>Estimate quality depends on how accurately users report habits</a:t>
            </a:r>
            <a:endParaRPr lang="en-US" sz="1400" dirty="0"/>
          </a:p>
          <a:p>
            <a:pPr marL="342900" indent="-342900">
              <a:spcAft>
                <a:spcPts val="800"/>
              </a:spcAft>
              <a:buSzPct val="100000"/>
              <a:buChar char="•"/>
            </a:pPr>
            <a:r>
              <a:rPr lang="en-US" sz="1400" dirty="0">
                <a:solidFill>
                  <a:srgbClr val="CFE8F3"/>
                </a:solidFill>
                <a:latin typeface="Calibri" pitchFamily="34" charset="0"/>
                <a:ea typeface="Calibri" pitchFamily="34" charset="-122"/>
                <a:cs typeface="Calibri" pitchFamily="34" charset="-120"/>
              </a:rPr>
              <a:t>No physical meter or IoT flow measurement</a:t>
            </a:r>
            <a:endParaRPr lang="en-US" sz="1400" dirty="0"/>
          </a:p>
          <a:p>
            <a:pPr marL="342900" indent="-342900">
              <a:spcAft>
                <a:spcPts val="800"/>
              </a:spcAft>
              <a:buSzPct val="100000"/>
              <a:buChar char="•"/>
            </a:pPr>
            <a:r>
              <a:rPr lang="en-US" sz="1400" dirty="0">
                <a:solidFill>
                  <a:srgbClr val="CFE8F3"/>
                </a:solidFill>
                <a:latin typeface="Calibri" pitchFamily="34" charset="0"/>
                <a:ea typeface="Calibri" pitchFamily="34" charset="-122"/>
                <a:cs typeface="Calibri" pitchFamily="34" charset="-120"/>
              </a:rPr>
              <a:t>Based on standard empirical flow rates, not live telemetry</a:t>
            </a:r>
            <a:endParaRPr lang="en-US" sz="1400" dirty="0"/>
          </a:p>
          <a:p>
            <a:pPr marL="342900" indent="-342900">
              <a:spcAft>
                <a:spcPts val="800"/>
              </a:spcAft>
              <a:buSzPct val="100000"/>
              <a:buChar char="•"/>
            </a:pPr>
            <a:r>
              <a:rPr lang="en-US" sz="1400" dirty="0">
                <a:solidFill>
                  <a:srgbClr val="CFE8F3"/>
                </a:solidFill>
                <a:latin typeface="Calibri" pitchFamily="34" charset="0"/>
                <a:ea typeface="Calibri" pitchFamily="34" charset="-122"/>
                <a:cs typeface="Calibri" pitchFamily="34" charset="-120"/>
              </a:rPr>
              <a:t>Household focus only: not municipal, agricultural or industrial</a:t>
            </a:r>
            <a:endParaRPr lang="en-US" sz="1400" dirty="0"/>
          </a:p>
        </p:txBody>
      </p:sp>
      <p:sp>
        <p:nvSpPr>
          <p:cNvPr id="9" name="Shape 6"/>
          <p:cNvSpPr/>
          <p:nvPr/>
        </p:nvSpPr>
        <p:spPr>
          <a:xfrm>
            <a:off x="6245352" y="1508760"/>
            <a:ext cx="5394960" cy="3154680"/>
          </a:xfrm>
          <a:prstGeom prst="roundRect">
            <a:avLst>
              <a:gd name="adj" fmla="val 3478"/>
            </a:avLst>
          </a:prstGeom>
          <a:solidFill>
            <a:srgbClr val="0B3A57"/>
          </a:solidFill>
          <a:ln w="9525">
            <a:solidFill>
              <a:srgbClr val="0B3A57"/>
            </a:solidFill>
            <a:prstDash val="solid"/>
          </a:ln>
        </p:spPr>
      </p:sp>
      <p:sp>
        <p:nvSpPr>
          <p:cNvPr id="10" name="Shape 7"/>
          <p:cNvSpPr/>
          <p:nvPr/>
        </p:nvSpPr>
        <p:spPr>
          <a:xfrm>
            <a:off x="6519672" y="1737360"/>
            <a:ext cx="457200" cy="457200"/>
          </a:xfrm>
          <a:prstGeom prst="ellipse">
            <a:avLst/>
          </a:prstGeom>
          <a:solidFill>
            <a:srgbClr val="0FB5A6"/>
          </a:solidFill>
          <a:ln w="12700">
            <a:solidFill>
              <a:srgbClr val="0FB5A6"/>
            </a:solidFill>
            <a:prstDash val="solid"/>
          </a:ln>
        </p:spPr>
      </p:sp>
      <p:pic>
        <p:nvPicPr>
          <p:cNvPr id="11" name="Image 1" descr="preencoded.png">    </p:cNvPr>
          <p:cNvPicPr>
            <a:picLocks noChangeAspect="1"/>
          </p:cNvPicPr>
          <p:nvPr/>
        </p:nvPicPr>
        <p:blipFill>
          <a:blip r:embed="rId2"/>
          <a:stretch>
            <a:fillRect/>
          </a:stretch>
        </p:blipFill>
        <p:spPr>
          <a:xfrm>
            <a:off x="6633972" y="1851660"/>
            <a:ext cx="228600" cy="228600"/>
          </a:xfrm>
          <a:prstGeom prst="rect">
            <a:avLst/>
          </a:prstGeom>
        </p:spPr>
      </p:pic>
      <p:sp>
        <p:nvSpPr>
          <p:cNvPr id="12" name="Text 8"/>
          <p:cNvSpPr txBox="1"/>
          <p:nvPr/>
        </p:nvSpPr>
        <p:spPr>
          <a:xfrm>
            <a:off x="7114032" y="1810512"/>
            <a:ext cx="4389120" cy="365760"/>
          </a:xfrm>
          <a:prstGeom prst="rect">
            <a:avLst/>
          </a:prstGeom>
          <a:noFill/>
          <a:ln/>
        </p:spPr>
        <p:txBody>
          <a:bodyPr wrap="square" lIns="0" tIns="0" rIns="0" bIns="0" rtlCol="0" anchor="t"/>
          <a:lstStyle/>
          <a:p>
            <a:pPr indent="0" marL="0">
              <a:buNone/>
            </a:pPr>
            <a:r>
              <a:rPr lang="en-US" sz="2000" b="1" dirty="0">
                <a:solidFill>
                  <a:srgbClr val="FFFFFF"/>
                </a:solidFill>
                <a:latin typeface="Cambria" pitchFamily="34" charset="0"/>
                <a:ea typeface="Cambria" pitchFamily="34" charset="-122"/>
                <a:cs typeface="Cambria" pitchFamily="34" charset="-120"/>
              </a:rPr>
              <a:t>Future scope (not yet built)</a:t>
            </a:r>
            <a:endParaRPr lang="en-US" sz="2000" dirty="0"/>
          </a:p>
        </p:txBody>
      </p:sp>
      <p:sp>
        <p:nvSpPr>
          <p:cNvPr id="13" name="Text 9"/>
          <p:cNvSpPr txBox="1"/>
          <p:nvPr/>
        </p:nvSpPr>
        <p:spPr>
          <a:xfrm>
            <a:off x="6519672" y="2468880"/>
            <a:ext cx="2514600" cy="210312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rgbClr val="CFE8F3"/>
                </a:solidFill>
                <a:latin typeface="Calibri" pitchFamily="34" charset="0"/>
                <a:ea typeface="Calibri" pitchFamily="34" charset="-122"/>
                <a:cs typeface="Calibri" pitchFamily="34" charset="-120"/>
              </a:rPr>
              <a:t>IoT water-flow sensors</a:t>
            </a:r>
            <a:endParaRPr lang="en-US" sz="1350" dirty="0"/>
          </a:p>
          <a:p>
            <a:pPr marL="342900" indent="-342900">
              <a:spcAft>
                <a:spcPts val="600"/>
              </a:spcAft>
              <a:buSzPct val="100000"/>
              <a:buChar char="•"/>
            </a:pPr>
            <a:r>
              <a:rPr lang="en-US" sz="1350" dirty="0">
                <a:solidFill>
                  <a:srgbClr val="CFE8F3"/>
                </a:solidFill>
                <a:latin typeface="Calibri" pitchFamily="34" charset="0"/>
                <a:ea typeface="Calibri" pitchFamily="34" charset="-122"/>
                <a:cs typeface="Calibri" pitchFamily="34" charset="-120"/>
              </a:rPr>
              <a:t>Real-time monitoring</a:t>
            </a:r>
            <a:endParaRPr lang="en-US" sz="1350" dirty="0"/>
          </a:p>
          <a:p>
            <a:pPr marL="342900" indent="-342900">
              <a:spcAft>
                <a:spcPts val="600"/>
              </a:spcAft>
              <a:buSzPct val="100000"/>
              <a:buChar char="•"/>
            </a:pPr>
            <a:r>
              <a:rPr lang="en-US" sz="1350" dirty="0">
                <a:solidFill>
                  <a:srgbClr val="CFE8F3"/>
                </a:solidFill>
                <a:latin typeface="Calibri" pitchFamily="34" charset="0"/>
                <a:ea typeface="Calibri" pitchFamily="34" charset="-122"/>
                <a:cs typeface="Calibri" pitchFamily="34" charset="-120"/>
              </a:rPr>
              <a:t>Mobile application</a:t>
            </a:r>
            <a:endParaRPr lang="en-US" sz="1350" dirty="0"/>
          </a:p>
          <a:p>
            <a:pPr marL="342900" indent="-342900">
              <a:spcAft>
                <a:spcPts val="600"/>
              </a:spcAft>
              <a:buSzPct val="100000"/>
              <a:buChar char="•"/>
            </a:pPr>
            <a:r>
              <a:rPr lang="en-US" sz="1350" dirty="0">
                <a:solidFill>
                  <a:srgbClr val="CFE8F3"/>
                </a:solidFill>
                <a:latin typeface="Calibri" pitchFamily="34" charset="0"/>
                <a:ea typeface="Calibri" pitchFamily="34" charset="-122"/>
                <a:cs typeface="Calibri" pitchFamily="34" charset="-120"/>
              </a:rPr>
              <a:t>Historical tracking</a:t>
            </a:r>
            <a:endParaRPr lang="en-US" sz="1350" dirty="0"/>
          </a:p>
          <a:p>
            <a:pPr marL="342900" indent="-342900">
              <a:spcAft>
                <a:spcPts val="600"/>
              </a:spcAft>
              <a:buSzPct val="100000"/>
              <a:buChar char="•"/>
            </a:pPr>
            <a:r>
              <a:rPr lang="en-US" sz="1350" dirty="0">
                <a:solidFill>
                  <a:srgbClr val="CFE8F3"/>
                </a:solidFill>
                <a:latin typeface="Calibri" pitchFamily="34" charset="0"/>
                <a:ea typeface="Calibri" pitchFamily="34" charset="-122"/>
                <a:cs typeface="Calibri" pitchFamily="34" charset="-120"/>
              </a:rPr>
              <a:t>Personalised goals</a:t>
            </a:r>
            <a:endParaRPr lang="en-US" sz="1350" dirty="0"/>
          </a:p>
        </p:txBody>
      </p:sp>
      <p:sp>
        <p:nvSpPr>
          <p:cNvPr id="14" name="Text 10"/>
          <p:cNvSpPr txBox="1"/>
          <p:nvPr/>
        </p:nvSpPr>
        <p:spPr>
          <a:xfrm>
            <a:off x="9098280" y="2468880"/>
            <a:ext cx="2423160" cy="210312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rgbClr val="CFE8F3"/>
                </a:solidFill>
                <a:latin typeface="Calibri" pitchFamily="34" charset="0"/>
                <a:ea typeface="Calibri" pitchFamily="34" charset="-122"/>
                <a:cs typeface="Calibri" pitchFamily="34" charset="-120"/>
              </a:rPr>
              <a:t>Smart leak detection</a:t>
            </a:r>
            <a:endParaRPr lang="en-US" sz="1350" dirty="0"/>
          </a:p>
          <a:p>
            <a:pPr marL="342900" indent="-342900">
              <a:spcAft>
                <a:spcPts val="600"/>
              </a:spcAft>
              <a:buSzPct val="100000"/>
              <a:buChar char="•"/>
            </a:pPr>
            <a:r>
              <a:rPr lang="en-US" sz="1350" dirty="0">
                <a:solidFill>
                  <a:srgbClr val="CFE8F3"/>
                </a:solidFill>
                <a:latin typeface="Calibri" pitchFamily="34" charset="0"/>
                <a:ea typeface="Calibri" pitchFamily="34" charset="-122"/>
                <a:cs typeface="Calibri" pitchFamily="34" charset="-120"/>
              </a:rPr>
              <a:t>Location-specific tips</a:t>
            </a:r>
            <a:endParaRPr lang="en-US" sz="1350" dirty="0"/>
          </a:p>
          <a:p>
            <a:pPr marL="342900" indent="-342900">
              <a:spcAft>
                <a:spcPts val="600"/>
              </a:spcAft>
              <a:buSzPct val="100000"/>
              <a:buChar char="•"/>
            </a:pPr>
            <a:r>
              <a:rPr lang="en-US" sz="1350" dirty="0">
                <a:solidFill>
                  <a:srgbClr val="CFE8F3"/>
                </a:solidFill>
                <a:latin typeface="Calibri" pitchFamily="34" charset="0"/>
                <a:ea typeface="Calibri" pitchFamily="34" charset="-122"/>
                <a:cs typeface="Calibri" pitchFamily="34" charset="-120"/>
              </a:rPr>
              <a:t>Smart-home integration</a:t>
            </a:r>
            <a:endParaRPr lang="en-US" sz="1350" dirty="0"/>
          </a:p>
          <a:p>
            <a:pPr marL="342900" indent="-342900">
              <a:spcAft>
                <a:spcPts val="600"/>
              </a:spcAft>
              <a:buSzPct val="100000"/>
              <a:buChar char="•"/>
            </a:pPr>
            <a:r>
              <a:rPr lang="en-US" sz="1350" dirty="0">
                <a:solidFill>
                  <a:srgbClr val="CFE8F3"/>
                </a:solidFill>
                <a:latin typeface="Calibri" pitchFamily="34" charset="0"/>
                <a:ea typeface="Calibri" pitchFamily="34" charset="-122"/>
                <a:cs typeface="Calibri" pitchFamily="34" charset="-120"/>
              </a:rPr>
              <a:t>Community analytics</a:t>
            </a:r>
            <a:endParaRPr lang="en-US" sz="1350" dirty="0"/>
          </a:p>
        </p:txBody>
      </p:sp>
      <p:sp>
        <p:nvSpPr>
          <p:cNvPr id="15" name="Text 11"/>
          <p:cNvSpPr txBox="1"/>
          <p:nvPr/>
        </p:nvSpPr>
        <p:spPr>
          <a:xfrm>
            <a:off x="548640" y="4846320"/>
            <a:ext cx="11091672" cy="640080"/>
          </a:xfrm>
          <a:prstGeom prst="rect">
            <a:avLst/>
          </a:prstGeom>
          <a:noFill/>
          <a:ln/>
        </p:spPr>
        <p:txBody>
          <a:bodyPr wrap="square" lIns="0" tIns="0" rIns="0" bIns="0" rtlCol="0" anchor="t"/>
          <a:lstStyle/>
          <a:p>
            <a:pPr algn="ctr" indent="0" marL="0">
              <a:buNone/>
            </a:pPr>
            <a:r>
              <a:rPr lang="en-US" sz="3800" b="1" dirty="0">
                <a:solidFill>
                  <a:srgbClr val="FFFFFF"/>
                </a:solidFill>
                <a:latin typeface="Cambria" pitchFamily="34" charset="0"/>
                <a:ea typeface="Cambria" pitchFamily="34" charset="-122"/>
                <a:cs typeface="Cambria" pitchFamily="34" charset="-120"/>
              </a:rPr>
              <a:t>Thank you</a:t>
            </a:r>
            <a:endParaRPr lang="en-US" sz="3800" dirty="0"/>
          </a:p>
        </p:txBody>
      </p:sp>
      <p:sp>
        <p:nvSpPr>
          <p:cNvPr id="16" name="Text 12"/>
          <p:cNvSpPr txBox="1"/>
          <p:nvPr/>
        </p:nvSpPr>
        <p:spPr>
          <a:xfrm>
            <a:off x="548640" y="5532120"/>
            <a:ext cx="11091672" cy="365760"/>
          </a:xfrm>
          <a:prstGeom prst="rect">
            <a:avLst/>
          </a:prstGeom>
          <a:noFill/>
          <a:ln/>
        </p:spPr>
        <p:txBody>
          <a:bodyPr wrap="square" lIns="0" tIns="0" rIns="0" bIns="0" rtlCol="0" anchor="t"/>
          <a:lstStyle/>
          <a:p>
            <a:pPr algn="ctr" indent="0" marL="0">
              <a:buNone/>
            </a:pPr>
            <a:r>
              <a:rPr lang="en-US" sz="1600" dirty="0">
                <a:solidFill>
                  <a:srgbClr val="CFE8F3"/>
                </a:solidFill>
                <a:latin typeface="Calibri" pitchFamily="34" charset="0"/>
                <a:ea typeface="Calibri" pitchFamily="34" charset="-122"/>
                <a:cs typeface="Calibri" pitchFamily="34" charset="-120"/>
              </a:rPr>
              <a:t>Turning water consumption from an invisible habit into understandable, actionable information.</a:t>
            </a:r>
            <a:endParaRPr lang="en-US" sz="1600" dirty="0"/>
          </a:p>
        </p:txBody>
      </p:sp>
      <p:sp>
        <p:nvSpPr>
          <p:cNvPr id="17" name="Text 13"/>
          <p:cNvSpPr txBox="1"/>
          <p:nvPr/>
        </p:nvSpPr>
        <p:spPr>
          <a:xfrm>
            <a:off x="548640" y="5989320"/>
            <a:ext cx="11091672" cy="274320"/>
          </a:xfrm>
          <a:prstGeom prst="rect">
            <a:avLst/>
          </a:prstGeom>
          <a:noFill/>
          <a:ln/>
        </p:spPr>
        <p:txBody>
          <a:bodyPr wrap="square" lIns="0" tIns="0" rIns="0" bIns="0" rtlCol="0" anchor="t"/>
          <a:lstStyle/>
          <a:p>
            <a:pPr algn="ctr" indent="0" marL="0">
              <a:buNone/>
            </a:pPr>
            <a:r>
              <a:rPr lang="en-US" sz="1200" b="1" dirty="0">
                <a:solidFill>
                  <a:srgbClr val="0FB5A6"/>
                </a:solidFill>
                <a:latin typeface="Calibri" pitchFamily="34" charset="0"/>
                <a:ea typeface="Calibri" pitchFamily="34" charset="-122"/>
                <a:cs typeface="Calibri" pitchFamily="34" charset="-120"/>
              </a:rPr>
              <a:t>Harsh Singh  ·  Jabalpur Engineering College  ·  B.Tech IT</a:t>
            </a:r>
            <a:endParaRPr lang="en-US" sz="1200" dirty="0"/>
          </a:p>
        </p:txBody>
      </p:sp>
      <p:sp>
        <p:nvSpPr>
          <p:cNvPr id="18" name="Text 14"/>
          <p:cNvSpPr txBox="1"/>
          <p:nvPr/>
        </p:nvSpPr>
        <p:spPr>
          <a:xfrm>
            <a:off x="548640" y="6510528"/>
            <a:ext cx="5486400" cy="228600"/>
          </a:xfrm>
          <a:prstGeom prst="rect">
            <a:avLst/>
          </a:prstGeom>
          <a:noFill/>
          <a:ln/>
        </p:spPr>
        <p:txBody>
          <a:bodyPr wrap="square" lIns="0" tIns="0" rIns="0" bIns="0" rtlCol="0" anchor="t"/>
          <a:lstStyle/>
          <a:p>
            <a:pPr indent="0" marL="0">
              <a:buNone/>
            </a:pPr>
            <a:r>
              <a:rPr lang="en-US" sz="1000" dirty="0">
                <a:solidFill>
                  <a:srgbClr val="8FB4C7"/>
                </a:solidFill>
                <a:latin typeface="Calibri" pitchFamily="34" charset="0"/>
                <a:ea typeface="Calibri" pitchFamily="34" charset="-122"/>
                <a:cs typeface="Calibri" pitchFamily="34" charset="-120"/>
              </a:rPr>
              <a:t>Smart Water Usage Advisor  |  SDG 6.4</a:t>
            </a:r>
            <a:endParaRPr lang="en-US" sz="1000" dirty="0"/>
          </a:p>
        </p:txBody>
      </p:sp>
      <p:sp>
        <p:nvSpPr>
          <p:cNvPr id="19" name="Text 15"/>
          <p:cNvSpPr txBox="1"/>
          <p:nvPr/>
        </p:nvSpPr>
        <p:spPr>
          <a:xfrm>
            <a:off x="10725912" y="6510528"/>
            <a:ext cx="914400" cy="228600"/>
          </a:xfrm>
          <a:prstGeom prst="rect">
            <a:avLst/>
          </a:prstGeom>
          <a:noFill/>
          <a:ln/>
        </p:spPr>
        <p:txBody>
          <a:bodyPr wrap="square" lIns="0" tIns="0" rIns="0" bIns="0" rtlCol="0" anchor="t"/>
          <a:lstStyle/>
          <a:p>
            <a:pPr algn="r" indent="0" marL="0">
              <a:buNone/>
            </a:pPr>
            <a:r>
              <a:rPr lang="en-US" sz="1000" dirty="0">
                <a:solidFill>
                  <a:srgbClr val="8FB4C7"/>
                </a:solidFill>
                <a:latin typeface="Calibri" pitchFamily="34" charset="0"/>
                <a:ea typeface="Calibri" pitchFamily="34" charset="-122"/>
                <a:cs typeface="Calibri" pitchFamily="34" charset="-120"/>
              </a:rPr>
              <a:t>9 / 9</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Smart Water Usage Advisor</dc:title>
  <dc:subject>PptxGenJS Presentation</dc:subject>
  <dc:creator>Harsh Singh</dc:creator>
  <cp:lastModifiedBy>Harsh Singh</cp:lastModifiedBy>
  <cp:revision>1</cp:revision>
  <dcterms:created xsi:type="dcterms:W3CDTF">2026-09-20T06:55:01Z</dcterms:created>
  <dcterms:modified xsi:type="dcterms:W3CDTF">2026-09-20T06:55:01Z</dcterms:modified>
</cp:coreProperties>
</file>